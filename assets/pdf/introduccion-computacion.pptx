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6"/>
  </p:notesMasterIdLst>
  <p:sldIdLst>
    <p:sldId id="274" r:id="rId2"/>
    <p:sldId id="268" r:id="rId3"/>
    <p:sldId id="278" r:id="rId4"/>
    <p:sldId id="279" r:id="rId5"/>
    <p:sldId id="280" r:id="rId6"/>
    <p:sldId id="281" r:id="rId7"/>
    <p:sldId id="282" r:id="rId8"/>
    <p:sldId id="283" r:id="rId9"/>
    <p:sldId id="284" r:id="rId10"/>
    <p:sldId id="285" r:id="rId11"/>
    <p:sldId id="286" r:id="rId12"/>
    <p:sldId id="287" r:id="rId13"/>
    <p:sldId id="275" r:id="rId14"/>
    <p:sldId id="264" r:id="rId15"/>
    <p:sldId id="277" r:id="rId16"/>
    <p:sldId id="265" r:id="rId17"/>
    <p:sldId id="266" r:id="rId18"/>
    <p:sldId id="257" r:id="rId19"/>
    <p:sldId id="258" r:id="rId20"/>
    <p:sldId id="259" r:id="rId21"/>
    <p:sldId id="260" r:id="rId22"/>
    <p:sldId id="261" r:id="rId23"/>
    <p:sldId id="262" r:id="rId24"/>
    <p:sldId id="263" r:id="rId25"/>
  </p:sldIdLst>
  <p:sldSz cx="9144000" cy="6858000" type="screen4x3"/>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PE"/>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01DCD-5C0F-45CB-ACCE-8FEF899EAFD5}" type="datetimeFigureOut">
              <a:rPr lang="es-PE" smtClean="0"/>
              <a:t>08/04/2015</a:t>
            </a:fld>
            <a:endParaRPr lang="es-PE"/>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PE"/>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PE"/>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2F7A37-36FF-4177-80F1-3BA16FD3E688}" type="slidenum">
              <a:rPr lang="es-PE" smtClean="0"/>
              <a:t>‹Nº›</a:t>
            </a:fld>
            <a:endParaRPr lang="es-PE"/>
          </a:p>
        </p:txBody>
      </p:sp>
    </p:spTree>
    <p:extLst>
      <p:ext uri="{BB962C8B-B14F-4D97-AF65-F5344CB8AC3E}">
        <p14:creationId xmlns:p14="http://schemas.microsoft.com/office/powerpoint/2010/main" val="1067859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PE" dirty="0"/>
          </a:p>
        </p:txBody>
      </p:sp>
      <p:sp>
        <p:nvSpPr>
          <p:cNvPr id="4" name="3 Marcador de número de diapositiva"/>
          <p:cNvSpPr>
            <a:spLocks noGrp="1"/>
          </p:cNvSpPr>
          <p:nvPr>
            <p:ph type="sldNum" sz="quarter" idx="10"/>
          </p:nvPr>
        </p:nvSpPr>
        <p:spPr/>
        <p:txBody>
          <a:bodyPr/>
          <a:lstStyle/>
          <a:p>
            <a:fld id="{4A2F7A37-36FF-4177-80F1-3BA16FD3E688}" type="slidenum">
              <a:rPr lang="es-PE" smtClean="0"/>
              <a:t>23</a:t>
            </a:fld>
            <a:endParaRPr lang="es-PE"/>
          </a:p>
        </p:txBody>
      </p:sp>
    </p:spTree>
    <p:extLst>
      <p:ext uri="{BB962C8B-B14F-4D97-AF65-F5344CB8AC3E}">
        <p14:creationId xmlns:p14="http://schemas.microsoft.com/office/powerpoint/2010/main" val="1687712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PE"/>
          </a:p>
        </p:txBody>
      </p:sp>
      <p:sp>
        <p:nvSpPr>
          <p:cNvPr id="4" name="3 Marcador de número de diapositiva"/>
          <p:cNvSpPr>
            <a:spLocks noGrp="1"/>
          </p:cNvSpPr>
          <p:nvPr>
            <p:ph type="sldNum" sz="quarter" idx="10"/>
          </p:nvPr>
        </p:nvSpPr>
        <p:spPr/>
        <p:txBody>
          <a:bodyPr/>
          <a:lstStyle/>
          <a:p>
            <a:fld id="{4A2F7A37-36FF-4177-80F1-3BA16FD3E688}" type="slidenum">
              <a:rPr lang="es-PE" smtClean="0"/>
              <a:t>24</a:t>
            </a:fld>
            <a:endParaRPr lang="es-PE"/>
          </a:p>
        </p:txBody>
      </p:sp>
    </p:spTree>
    <p:extLst>
      <p:ext uri="{BB962C8B-B14F-4D97-AF65-F5344CB8AC3E}">
        <p14:creationId xmlns:p14="http://schemas.microsoft.com/office/powerpoint/2010/main" val="170994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2">
        <a:schemeClr val="bg2"/>
      </p:bgRef>
    </p:bg>
    <p:spTree>
      <p:nvGrpSpPr>
        <p:cNvPr id="1" name=""/>
        <p:cNvGrpSpPr/>
        <p:nvPr/>
      </p:nvGrpSpPr>
      <p:grpSpPr>
        <a:xfrm>
          <a:off x="0" y="0"/>
          <a:ext cx="0" cy="0"/>
          <a:chOff x="0" y="0"/>
          <a:chExt cx="0" cy="0"/>
        </a:xfrm>
      </p:grpSpPr>
      <p:sp>
        <p:nvSpPr>
          <p:cNvPr id="7" name="6 Forma libre"/>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7 Forma libre"/>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8 Título"/>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30" name="29 Marcador de fecha"/>
          <p:cNvSpPr>
            <a:spLocks noGrp="1"/>
          </p:cNvSpPr>
          <p:nvPr>
            <p:ph type="dt" sz="half" idx="10"/>
          </p:nvPr>
        </p:nvSpPr>
        <p:spPr/>
        <p:txBody>
          <a:bodyPr/>
          <a:lstStyle/>
          <a:p>
            <a:fld id="{2FD6D8FE-5193-444C-B755-0243D0608C48}" type="datetimeFigureOut">
              <a:rPr lang="es-PE" smtClean="0"/>
              <a:t>08/04/2015</a:t>
            </a:fld>
            <a:endParaRPr lang="es-PE"/>
          </a:p>
        </p:txBody>
      </p:sp>
      <p:sp>
        <p:nvSpPr>
          <p:cNvPr id="19" name="18 Marcador de pie de página"/>
          <p:cNvSpPr>
            <a:spLocks noGrp="1"/>
          </p:cNvSpPr>
          <p:nvPr>
            <p:ph type="ftr" sz="quarter" idx="11"/>
          </p:nvPr>
        </p:nvSpPr>
        <p:spPr/>
        <p:txBody>
          <a:bodyPr/>
          <a:lstStyle/>
          <a:p>
            <a:endParaRPr lang="es-PE"/>
          </a:p>
        </p:txBody>
      </p:sp>
      <p:sp>
        <p:nvSpPr>
          <p:cNvPr id="27" name="26 Marcador de número de diapositiva"/>
          <p:cNvSpPr>
            <a:spLocks noGrp="1"/>
          </p:cNvSpPr>
          <p:nvPr>
            <p:ph type="sldNum" sz="quarter" idx="12"/>
          </p:nvPr>
        </p:nvSpPr>
        <p:spPr/>
        <p:txBody>
          <a:bodyPr/>
          <a:lstStyle/>
          <a:p>
            <a:fld id="{66129D0D-C4D6-4C08-ACA9-3826FF4680E2}" type="slidenum">
              <a:rPr lang="es-PE" smtClean="0"/>
              <a:t>‹Nº›</a:t>
            </a:fld>
            <a:endParaRPr lang="es-PE"/>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lgn="l">
              <a:defRPr/>
            </a:lvl1p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2FD6D8FE-5193-444C-B755-0243D0608C48}" type="datetimeFigureOut">
              <a:rPr lang="es-PE" smtClean="0"/>
              <a:t>08/04/2015</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66129D0D-C4D6-4C08-ACA9-3826FF4680E2}" type="slidenum">
              <a:rPr lang="es-PE" smtClean="0"/>
              <a:t>‹Nº›</a:t>
            </a:fld>
            <a:endParaRPr lang="es-P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2">
        <a:schemeClr val="bg2"/>
      </p:bgRef>
    </p:bg>
    <p:spTree>
      <p:nvGrpSpPr>
        <p:cNvPr id="1" name=""/>
        <p:cNvGrpSpPr/>
        <p:nvPr/>
      </p:nvGrpSpPr>
      <p:grpSpPr>
        <a:xfrm>
          <a:off x="0" y="0"/>
          <a:ext cx="0" cy="0"/>
          <a:chOff x="0" y="0"/>
          <a:chExt cx="0" cy="0"/>
        </a:xfrm>
      </p:grpSpPr>
      <p:sp>
        <p:nvSpPr>
          <p:cNvPr id="7" name="6 Forma libre"/>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8 Forma libre"/>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1 Título"/>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2FD6D8FE-5193-444C-B755-0243D0608C48}" type="datetimeFigureOut">
              <a:rPr lang="es-PE" smtClean="0"/>
              <a:t>08/04/2015</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66129D0D-C4D6-4C08-ACA9-3826FF4680E2}" type="slidenum">
              <a:rPr lang="es-PE" smtClean="0"/>
              <a:t>‹Nº›</a:t>
            </a:fld>
            <a:endParaRPr lang="es-PE"/>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7467600" cy="1143000"/>
          </a:xfrm>
        </p:spPr>
        <p:txBody>
          <a:body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2FD6D8FE-5193-444C-B755-0243D0608C48}" type="datetimeFigureOut">
              <a:rPr lang="es-PE" smtClean="0"/>
              <a:t>08/04/2015</a:t>
            </a:fld>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66129D0D-C4D6-4C08-ACA9-3826FF4680E2}" type="slidenum">
              <a:rPr lang="es-PE" smtClean="0"/>
              <a:t>‹Nº›</a:t>
            </a:fld>
            <a:endParaRPr lang="es-P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p>
            <a:fld id="{2FD6D8FE-5193-444C-B755-0243D0608C48}" type="datetimeFigureOut">
              <a:rPr lang="es-PE" smtClean="0"/>
              <a:t>08/04/2015</a:t>
            </a:fld>
            <a:endParaRPr lang="es-PE"/>
          </a:p>
        </p:txBody>
      </p:sp>
      <p:sp>
        <p:nvSpPr>
          <p:cNvPr id="8" name="7 Marcador de pie de página"/>
          <p:cNvSpPr>
            <a:spLocks noGrp="1"/>
          </p:cNvSpPr>
          <p:nvPr>
            <p:ph type="ftr" sz="quarter" idx="11"/>
          </p:nvPr>
        </p:nvSpPr>
        <p:spPr/>
        <p:txBody>
          <a:bodyPr/>
          <a:lstStyle/>
          <a:p>
            <a:endParaRPr lang="es-PE"/>
          </a:p>
        </p:txBody>
      </p:sp>
      <p:sp>
        <p:nvSpPr>
          <p:cNvPr id="9" name="8 Marcador de número de diapositiva"/>
          <p:cNvSpPr>
            <a:spLocks noGrp="1"/>
          </p:cNvSpPr>
          <p:nvPr>
            <p:ph type="sldNum" sz="quarter" idx="12"/>
          </p:nvPr>
        </p:nvSpPr>
        <p:spPr/>
        <p:txBody>
          <a:bodyPr/>
          <a:lstStyle/>
          <a:p>
            <a:fld id="{66129D0D-C4D6-4C08-ACA9-3826FF4680E2}" type="slidenum">
              <a:rPr lang="es-PE" smtClean="0"/>
              <a:t>‹Nº›</a:t>
            </a:fld>
            <a:endParaRPr lang="es-P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320"/>
            <a:ext cx="7470648" cy="1143000"/>
          </a:xfrm>
        </p:spPr>
        <p:txBody>
          <a:bodyPr anchor="ctr"/>
          <a:lstStyle>
            <a:lvl1pPr algn="l">
              <a:defRPr sz="4600"/>
            </a:lvl1pPr>
          </a:lstStyle>
          <a:p>
            <a:r>
              <a:rPr kumimoji="0" lang="es-ES" smtClean="0"/>
              <a:t>Haga clic para modificar el estilo de título del patrón</a:t>
            </a:r>
            <a:endParaRPr kumimoji="0" lang="en-US"/>
          </a:p>
        </p:txBody>
      </p:sp>
      <p:sp>
        <p:nvSpPr>
          <p:cNvPr id="7" name="6 Marcador de fecha"/>
          <p:cNvSpPr>
            <a:spLocks noGrp="1"/>
          </p:cNvSpPr>
          <p:nvPr>
            <p:ph type="dt" sz="half" idx="10"/>
          </p:nvPr>
        </p:nvSpPr>
        <p:spPr/>
        <p:txBody>
          <a:bodyPr/>
          <a:lstStyle/>
          <a:p>
            <a:fld id="{2FD6D8FE-5193-444C-B755-0243D0608C48}" type="datetimeFigureOut">
              <a:rPr lang="es-PE" smtClean="0"/>
              <a:t>08/04/2015</a:t>
            </a:fld>
            <a:endParaRPr lang="es-PE"/>
          </a:p>
        </p:txBody>
      </p:sp>
      <p:sp>
        <p:nvSpPr>
          <p:cNvPr id="8" name="7 Marcador de número de diapositiva"/>
          <p:cNvSpPr>
            <a:spLocks noGrp="1"/>
          </p:cNvSpPr>
          <p:nvPr>
            <p:ph type="sldNum" sz="quarter" idx="11"/>
          </p:nvPr>
        </p:nvSpPr>
        <p:spPr/>
        <p:txBody>
          <a:bodyPr/>
          <a:lstStyle/>
          <a:p>
            <a:fld id="{66129D0D-C4D6-4C08-ACA9-3826FF4680E2}" type="slidenum">
              <a:rPr lang="es-PE" smtClean="0"/>
              <a:t>‹Nº›</a:t>
            </a:fld>
            <a:endParaRPr lang="es-PE"/>
          </a:p>
        </p:txBody>
      </p:sp>
      <p:sp>
        <p:nvSpPr>
          <p:cNvPr id="9" name="8 Marcador de pie de página"/>
          <p:cNvSpPr>
            <a:spLocks noGrp="1"/>
          </p:cNvSpPr>
          <p:nvPr>
            <p:ph type="ftr" sz="quarter" idx="12"/>
          </p:nvPr>
        </p:nvSpPr>
        <p:spPr/>
        <p:txBody>
          <a:bodyPr/>
          <a:lstStyle/>
          <a:p>
            <a:endParaRPr lang="es-P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2FD6D8FE-5193-444C-B755-0243D0608C48}" type="datetimeFigureOut">
              <a:rPr lang="es-PE" smtClean="0"/>
              <a:t>08/04/2015</a:t>
            </a:fld>
            <a:endParaRPr lang="es-PE"/>
          </a:p>
        </p:txBody>
      </p:sp>
      <p:sp>
        <p:nvSpPr>
          <p:cNvPr id="3" name="2 Marcador de pie de página"/>
          <p:cNvSpPr>
            <a:spLocks noGrp="1"/>
          </p:cNvSpPr>
          <p:nvPr>
            <p:ph type="ftr" sz="quarter" idx="11"/>
          </p:nvPr>
        </p:nvSpPr>
        <p:spPr/>
        <p:txBody>
          <a:bodyPr/>
          <a:lstStyle/>
          <a:p>
            <a:endParaRPr lang="es-PE"/>
          </a:p>
        </p:txBody>
      </p:sp>
      <p:sp>
        <p:nvSpPr>
          <p:cNvPr id="4" name="3 Marcador de número de diapositiva"/>
          <p:cNvSpPr>
            <a:spLocks noGrp="1"/>
          </p:cNvSpPr>
          <p:nvPr>
            <p:ph type="sldNum" sz="quarter" idx="12"/>
          </p:nvPr>
        </p:nvSpPr>
        <p:spPr/>
        <p:txBody>
          <a:bodyPr/>
          <a:lstStyle/>
          <a:p>
            <a:fld id="{66129D0D-C4D6-4C08-ACA9-3826FF4680E2}" type="slidenum">
              <a:rPr lang="es-PE" smtClean="0"/>
              <a:t>‹Nº›</a:t>
            </a:fld>
            <a:endParaRPr lang="es-P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2FD6D8FE-5193-444C-B755-0243D0608C48}" type="datetimeFigureOut">
              <a:rPr lang="es-PE" smtClean="0"/>
              <a:t>08/04/2015</a:t>
            </a:fld>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a:xfrm>
            <a:off x="8156448" y="6422064"/>
            <a:ext cx="762000" cy="365125"/>
          </a:xfrm>
        </p:spPr>
        <p:txBody>
          <a:bodyPr/>
          <a:lstStyle/>
          <a:p>
            <a:fld id="{66129D0D-C4D6-4C08-ACA9-3826FF4680E2}" type="slidenum">
              <a:rPr lang="es-PE" smtClean="0"/>
              <a:t>‹Nº›</a:t>
            </a:fld>
            <a:endParaRPr lang="es-P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a:xfrm>
            <a:off x="457200" y="6422064"/>
            <a:ext cx="2133600" cy="365125"/>
          </a:xfrm>
        </p:spPr>
        <p:txBody>
          <a:bodyPr/>
          <a:lstStyle/>
          <a:p>
            <a:fld id="{2FD6D8FE-5193-444C-B755-0243D0608C48}" type="datetimeFigureOut">
              <a:rPr lang="es-PE" smtClean="0"/>
              <a:t>08/04/2015</a:t>
            </a:fld>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66129D0D-C4D6-4C08-ACA9-3826FF4680E2}" type="slidenum">
              <a:rPr lang="es-PE" smtClean="0"/>
              <a:t>‹Nº›</a:t>
            </a:fld>
            <a:endParaRPr lang="es-P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2FD6D8FE-5193-444C-B755-0243D0608C48}" type="datetimeFigureOut">
              <a:rPr lang="es-PE" smtClean="0"/>
              <a:t>08/04/2015</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66129D0D-C4D6-4C08-ACA9-3826FF4680E2}" type="slidenum">
              <a:rPr lang="es-PE" smtClean="0"/>
              <a:t>‹Nº›</a:t>
            </a:fld>
            <a:endParaRPr lang="es-P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2FD6D8FE-5193-444C-B755-0243D0608C48}" type="datetimeFigureOut">
              <a:rPr lang="es-PE" smtClean="0"/>
              <a:t>08/04/2015</a:t>
            </a:fld>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66129D0D-C4D6-4C08-ACA9-3826FF4680E2}" type="slidenum">
              <a:rPr lang="es-PE" smtClean="0"/>
              <a:t>‹Nº›</a:t>
            </a:fld>
            <a:endParaRPr lang="es-P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11 Forma libre"/>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15 Forma libre"/>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8 Marcador de título"/>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2FD6D8FE-5193-444C-B755-0243D0608C48}" type="datetimeFigureOut">
              <a:rPr lang="es-PE" smtClean="0"/>
              <a:t>08/04/2015</a:t>
            </a:fld>
            <a:endParaRPr lang="es-PE"/>
          </a:p>
        </p:txBody>
      </p:sp>
      <p:sp>
        <p:nvSpPr>
          <p:cNvPr id="22" name="21 Marcador de pie de página"/>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s-PE"/>
          </a:p>
        </p:txBody>
      </p:sp>
      <p:sp>
        <p:nvSpPr>
          <p:cNvPr id="18" name="17 Marcador de número de diapositiva"/>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66129D0D-C4D6-4C08-ACA9-3826FF4680E2}" type="slidenum">
              <a:rPr lang="es-PE" smtClean="0"/>
              <a:t>‹Nº›</a:t>
            </a:fld>
            <a:endParaRPr lang="es-PE"/>
          </a:p>
        </p:txBody>
      </p:sp>
    </p:spTree>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7.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971600" y="1556792"/>
            <a:ext cx="6480048" cy="2301240"/>
          </a:xfrm>
        </p:spPr>
        <p:txBody>
          <a:bodyPr/>
          <a:lstStyle/>
          <a:p>
            <a:pPr algn="ctr"/>
            <a:r>
              <a:rPr lang="es-PE" dirty="0" smtClean="0"/>
              <a:t>Introducción a la computación</a:t>
            </a:r>
            <a:endParaRPr lang="es-PE" dirty="0"/>
          </a:p>
        </p:txBody>
      </p:sp>
      <p:sp>
        <p:nvSpPr>
          <p:cNvPr id="3" name="2 Subtítulo"/>
          <p:cNvSpPr>
            <a:spLocks noGrp="1"/>
          </p:cNvSpPr>
          <p:nvPr>
            <p:ph type="subTitle" idx="1"/>
          </p:nvPr>
        </p:nvSpPr>
        <p:spPr>
          <a:xfrm>
            <a:off x="1475656" y="4005064"/>
            <a:ext cx="6480048" cy="1752600"/>
          </a:xfrm>
        </p:spPr>
        <p:txBody>
          <a:bodyPr>
            <a:normAutofit fontScale="92500" lnSpcReduction="20000"/>
          </a:bodyPr>
          <a:lstStyle/>
          <a:p>
            <a:pPr algn="l"/>
            <a:r>
              <a:rPr lang="es-PE" dirty="0" smtClean="0"/>
              <a:t>Prof. : Nilo Carrasco Oré</a:t>
            </a:r>
          </a:p>
          <a:p>
            <a:pPr algn="l"/>
            <a:endParaRPr lang="es-PE" dirty="0"/>
          </a:p>
          <a:p>
            <a:pPr algn="l"/>
            <a:r>
              <a:rPr lang="es-PE" dirty="0" smtClean="0"/>
              <a:t>Estudiantes:  Eduardo Pullo Pisco (Diap. </a:t>
            </a:r>
            <a:r>
              <a:rPr lang="es-PE" dirty="0" smtClean="0"/>
              <a:t>2-12)</a:t>
            </a:r>
            <a:endParaRPr lang="es-PE" dirty="0" smtClean="0"/>
          </a:p>
          <a:p>
            <a:pPr algn="l"/>
            <a:r>
              <a:rPr lang="es-PE" dirty="0" smtClean="0"/>
              <a:t>                      Kenny Medrano Lopez (Diap. </a:t>
            </a:r>
            <a:r>
              <a:rPr lang="es-PE" dirty="0" smtClean="0"/>
              <a:t>13-14)</a:t>
            </a:r>
            <a:endParaRPr lang="es-PE" dirty="0" smtClean="0"/>
          </a:p>
          <a:p>
            <a:pPr algn="l"/>
            <a:r>
              <a:rPr lang="es-PE" dirty="0" smtClean="0"/>
              <a:t>                      Alex Quispe Cruz (Diap. </a:t>
            </a:r>
            <a:r>
              <a:rPr lang="es-PE" dirty="0" smtClean="0"/>
              <a:t>15</a:t>
            </a:r>
            <a:r>
              <a:rPr lang="es-PE" dirty="0" smtClean="0"/>
              <a:t>-17)</a:t>
            </a:r>
            <a:endParaRPr lang="es-PE" dirty="0" smtClean="0"/>
          </a:p>
          <a:p>
            <a:pPr algn="l"/>
            <a:r>
              <a:rPr lang="es-PE" dirty="0" smtClean="0"/>
              <a:t>                      Alexander Loredo Purizaga (Diap. </a:t>
            </a:r>
            <a:r>
              <a:rPr lang="es-PE" dirty="0" smtClean="0"/>
              <a:t>18-24 </a:t>
            </a:r>
            <a:r>
              <a:rPr lang="es-PE" dirty="0" smtClean="0"/>
              <a:t>)</a:t>
            </a:r>
            <a:endParaRPr lang="es-PE" dirty="0"/>
          </a:p>
        </p:txBody>
      </p:sp>
    </p:spTree>
    <p:extLst>
      <p:ext uri="{BB962C8B-B14F-4D97-AF65-F5344CB8AC3E}">
        <p14:creationId xmlns:p14="http://schemas.microsoft.com/office/powerpoint/2010/main" val="8887253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effectLst>
            <a:outerShdw blurRad="50800" dist="38100" dir="16200000" rotWithShape="0">
              <a:prstClr val="black">
                <a:alpha val="40000"/>
              </a:prstClr>
            </a:outerShdw>
          </a:effectLst>
        </p:spPr>
        <p:txBody>
          <a:bodyPr>
            <a:noAutofit/>
          </a:bodyPr>
          <a:lstStyle/>
          <a:p>
            <a:pPr algn="ctr"/>
            <a:r>
              <a:rPr lang="es-ES" sz="4000" dirty="0" smtClean="0">
                <a:solidFill>
                  <a:srgbClr val="C00000"/>
                </a:solidFill>
                <a:latin typeface="Constantia" panose="02030602050306030303" pitchFamily="18" charset="0"/>
              </a:rPr>
              <a:t>LAS COMPUTADORAS EN NUESTRO MUNDO</a:t>
            </a:r>
            <a:endParaRPr lang="es-ES" sz="4000" dirty="0">
              <a:solidFill>
                <a:srgbClr val="C00000"/>
              </a:solidFill>
              <a:latin typeface="Constantia" panose="02030602050306030303" pitchFamily="18" charset="0"/>
            </a:endParaRPr>
          </a:p>
        </p:txBody>
      </p:sp>
      <p:sp>
        <p:nvSpPr>
          <p:cNvPr id="3" name="2 Marcador de contenido"/>
          <p:cNvSpPr>
            <a:spLocks noGrp="1"/>
          </p:cNvSpPr>
          <p:nvPr>
            <p:ph idx="1"/>
          </p:nvPr>
        </p:nvSpPr>
        <p:spPr/>
        <p:txBody>
          <a:bodyPr>
            <a:normAutofit/>
          </a:bodyPr>
          <a:lstStyle/>
          <a:p>
            <a:pPr marL="36576" indent="0" algn="just">
              <a:buNone/>
            </a:pPr>
            <a:r>
              <a:rPr lang="es-ES" sz="1600" dirty="0" smtClean="0">
                <a:latin typeface="Gisha" panose="020B0502040204020203" pitchFamily="34" charset="-79"/>
                <a:cs typeface="Gisha" panose="020B0502040204020203" pitchFamily="34" charset="-79"/>
              </a:rPr>
              <a:t>Las computadoras están en todas partes y se pueden encontrar en casi todos los lugares, Durante las dos ultimas décadas las computadoras han reformado nuestras vidas en el hogar, trabajo y escuela</a:t>
            </a:r>
            <a:r>
              <a:rPr lang="es-ES" sz="1600" dirty="0">
                <a:latin typeface="Gisha" panose="020B0502040204020203" pitchFamily="34" charset="-79"/>
                <a:cs typeface="Gisha" panose="020B0502040204020203" pitchFamily="34" charset="-79"/>
              </a:rPr>
              <a:t>.</a:t>
            </a:r>
            <a:endParaRPr lang="es-ES" sz="1600" dirty="0" smtClean="0">
              <a:latin typeface="Gisha" panose="020B0502040204020203" pitchFamily="34" charset="-79"/>
              <a:cs typeface="Gisha" panose="020B0502040204020203" pitchFamily="34" charset="-79"/>
            </a:endParaRPr>
          </a:p>
        </p:txBody>
      </p:sp>
      <p:pic>
        <p:nvPicPr>
          <p:cNvPr id="5" name="Picture 2" descr="Resultado de imagen para gente con computadoras"/>
          <p:cNvPicPr>
            <a:picLocks noChangeAspect="1" noChangeArrowheads="1"/>
          </p:cNvPicPr>
          <p:nvPr/>
        </p:nvPicPr>
        <p:blipFill>
          <a:blip r:embed="rId2" cstate="print"/>
          <a:srcRect/>
          <a:stretch>
            <a:fillRect/>
          </a:stretch>
        </p:blipFill>
        <p:spPr bwMode="auto">
          <a:xfrm>
            <a:off x="539552" y="2780928"/>
            <a:ext cx="3024336" cy="3024336"/>
          </a:xfrm>
          <a:prstGeom prst="rect">
            <a:avLst/>
          </a:prstGeom>
          <a:noFill/>
        </p:spPr>
      </p:pic>
      <p:pic>
        <p:nvPicPr>
          <p:cNvPr id="6" name="Picture 4" descr="Resultado de imagen para gente con computadoras"/>
          <p:cNvPicPr>
            <a:picLocks noChangeAspect="1" noChangeArrowheads="1"/>
          </p:cNvPicPr>
          <p:nvPr/>
        </p:nvPicPr>
        <p:blipFill>
          <a:blip r:embed="rId3" cstate="print"/>
          <a:srcRect/>
          <a:stretch>
            <a:fillRect/>
          </a:stretch>
        </p:blipFill>
        <p:spPr bwMode="auto">
          <a:xfrm>
            <a:off x="3923928" y="2924944"/>
            <a:ext cx="4306078" cy="2808312"/>
          </a:xfrm>
          <a:prstGeom prst="rect">
            <a:avLst/>
          </a:prstGeom>
          <a:noFill/>
        </p:spPr>
      </p:pic>
    </p:spTree>
    <p:extLst>
      <p:ext uri="{BB962C8B-B14F-4D97-AF65-F5344CB8AC3E}">
        <p14:creationId xmlns:p14="http://schemas.microsoft.com/office/powerpoint/2010/main" val="30396931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7467600" cy="1066130"/>
          </a:xfrm>
        </p:spPr>
        <p:txBody>
          <a:bodyPr>
            <a:noAutofit/>
          </a:bodyPr>
          <a:lstStyle/>
          <a:p>
            <a:pPr algn="ctr"/>
            <a:r>
              <a:rPr lang="es-ES" sz="4000" dirty="0">
                <a:solidFill>
                  <a:srgbClr val="C00000"/>
                </a:solidFill>
                <a:latin typeface="Constantia" panose="02030602050306030303" pitchFamily="18" charset="0"/>
              </a:rPr>
              <a:t>DEFINICION DE UNA COMPUTADORA</a:t>
            </a:r>
            <a:endParaRPr lang="es-ES" sz="4000" dirty="0">
              <a:solidFill>
                <a:srgbClr val="C00000"/>
              </a:solidFill>
              <a:latin typeface="Constantia" panose="02030602050306030303" pitchFamily="18" charset="0"/>
            </a:endParaRPr>
          </a:p>
        </p:txBody>
      </p:sp>
      <p:sp>
        <p:nvSpPr>
          <p:cNvPr id="3" name="2 Marcador de contenido"/>
          <p:cNvSpPr>
            <a:spLocks noGrp="1"/>
          </p:cNvSpPr>
          <p:nvPr>
            <p:ph idx="1"/>
          </p:nvPr>
        </p:nvSpPr>
        <p:spPr>
          <a:xfrm>
            <a:off x="457200" y="1600201"/>
            <a:ext cx="7467600" cy="2116832"/>
          </a:xfrm>
        </p:spPr>
        <p:txBody>
          <a:bodyPr>
            <a:normAutofit/>
          </a:bodyPr>
          <a:lstStyle/>
          <a:p>
            <a:pPr marL="36576" indent="0" algn="just">
              <a:buNone/>
            </a:pPr>
            <a:r>
              <a:rPr lang="es-ES" sz="2200" dirty="0" smtClean="0">
                <a:latin typeface="Gisha" panose="020B0502040204020203" pitchFamily="34" charset="-79"/>
                <a:cs typeface="Gisha" panose="020B0502040204020203" pitchFamily="34" charset="-79"/>
              </a:rPr>
              <a:t>La computadora es un dispositivo que procesa datos y los convierte en información útil para las personas.</a:t>
            </a:r>
          </a:p>
          <a:p>
            <a:pPr marL="36576" indent="0" algn="just">
              <a:buNone/>
            </a:pPr>
            <a:r>
              <a:rPr lang="es-ES" sz="2200" dirty="0" smtClean="0">
                <a:latin typeface="Gisha" panose="020B0502040204020203" pitchFamily="34" charset="-79"/>
                <a:cs typeface="Gisha" panose="020B0502040204020203" pitchFamily="34" charset="-79"/>
              </a:rPr>
              <a:t>Cualquier computadora se controla con instrucciones programadas, las cuales le dan a la maquina un propósito y le dicen lo que debe hacer.</a:t>
            </a:r>
          </a:p>
          <a:p>
            <a:endParaRPr lang="es-ES" dirty="0"/>
          </a:p>
        </p:txBody>
      </p:sp>
      <p:sp>
        <p:nvSpPr>
          <p:cNvPr id="1026" name="AutoShape 2" descr="Resultado de imagen para computador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sp>
        <p:nvSpPr>
          <p:cNvPr id="1028" name="AutoShape 4" descr="Resultado de imagen para computador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sp>
        <p:nvSpPr>
          <p:cNvPr id="1030" name="AutoShape 6" descr="Resultado de imagen para computadora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032" name="Picture 8" descr="http://imagenesinglesespanol.com/wp-content/uploads/2014/04/computadoras-de-escritorio-3.jpg"/>
          <p:cNvPicPr>
            <a:picLocks noChangeAspect="1" noChangeArrowheads="1"/>
          </p:cNvPicPr>
          <p:nvPr/>
        </p:nvPicPr>
        <p:blipFill>
          <a:blip r:embed="rId2" cstate="print"/>
          <a:srcRect/>
          <a:stretch>
            <a:fillRect/>
          </a:stretch>
        </p:blipFill>
        <p:spPr bwMode="auto">
          <a:xfrm>
            <a:off x="2627784" y="3554848"/>
            <a:ext cx="3240360" cy="2808312"/>
          </a:xfrm>
          <a:prstGeom prst="rect">
            <a:avLst/>
          </a:prstGeom>
          <a:noFill/>
        </p:spPr>
      </p:pic>
    </p:spTree>
    <p:extLst>
      <p:ext uri="{BB962C8B-B14F-4D97-AF65-F5344CB8AC3E}">
        <p14:creationId xmlns:p14="http://schemas.microsoft.com/office/powerpoint/2010/main" val="17183994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457200" y="764704"/>
            <a:ext cx="3657600" cy="3240359"/>
          </a:xfrm>
        </p:spPr>
        <p:txBody>
          <a:bodyPr>
            <a:normAutofit/>
          </a:bodyPr>
          <a:lstStyle/>
          <a:p>
            <a:pPr algn="just"/>
            <a:r>
              <a:rPr lang="es-ES" sz="1900" dirty="0" smtClean="0">
                <a:latin typeface="Gisha" panose="020B0502040204020203" pitchFamily="34" charset="-79"/>
                <a:cs typeface="Gisha" panose="020B0502040204020203" pitchFamily="34" charset="-79"/>
              </a:rPr>
              <a:t>Las computadoras digitales se llaman así debido a que trabajan con “números”. Es decir dividen los tipos de información en pequeñas unidades y utilizan números para representar esas piezas de información. </a:t>
            </a:r>
          </a:p>
          <a:p>
            <a:endParaRPr lang="es-ES" dirty="0"/>
          </a:p>
        </p:txBody>
      </p:sp>
      <p:sp>
        <p:nvSpPr>
          <p:cNvPr id="4" name="3 Marcador de contenido"/>
          <p:cNvSpPr>
            <a:spLocks noGrp="1"/>
          </p:cNvSpPr>
          <p:nvPr>
            <p:ph sz="half" idx="2"/>
          </p:nvPr>
        </p:nvSpPr>
        <p:spPr>
          <a:xfrm>
            <a:off x="4267200" y="692696"/>
            <a:ext cx="3657600" cy="5433467"/>
          </a:xfrm>
        </p:spPr>
        <p:txBody>
          <a:bodyPr>
            <a:normAutofit/>
          </a:bodyPr>
          <a:lstStyle/>
          <a:p>
            <a:pPr algn="just"/>
            <a:r>
              <a:rPr lang="es-ES" sz="1900" dirty="0" smtClean="0">
                <a:latin typeface="Gisha" panose="020B0502040204020203" pitchFamily="34" charset="-79"/>
                <a:cs typeface="Gisha" panose="020B0502040204020203" pitchFamily="34" charset="-79"/>
              </a:rPr>
              <a:t>Las primeras computadoras fueron de sistemas análogos, esta es una computadora menos conocida, la cual  funciona de manera muy distinta a las digitales.(Los sistemas digitales de la actualidad le deben mucho a las análogas).</a:t>
            </a:r>
          </a:p>
          <a:p>
            <a:endParaRPr lang="es-ES" dirty="0"/>
          </a:p>
        </p:txBody>
      </p:sp>
      <p:pic>
        <p:nvPicPr>
          <p:cNvPr id="37890" name="Picture 2" descr="http://i.imgur.com/67OFL.jpg"/>
          <p:cNvPicPr>
            <a:picLocks noChangeAspect="1" noChangeArrowheads="1"/>
          </p:cNvPicPr>
          <p:nvPr/>
        </p:nvPicPr>
        <p:blipFill>
          <a:blip r:embed="rId2" cstate="print"/>
          <a:srcRect/>
          <a:stretch>
            <a:fillRect/>
          </a:stretch>
        </p:blipFill>
        <p:spPr bwMode="auto">
          <a:xfrm>
            <a:off x="4427983" y="3846934"/>
            <a:ext cx="3751113" cy="2520280"/>
          </a:xfrm>
          <a:prstGeom prst="rect">
            <a:avLst/>
          </a:prstGeom>
          <a:noFill/>
        </p:spPr>
      </p:pic>
      <p:pic>
        <p:nvPicPr>
          <p:cNvPr id="37892" name="Picture 4" descr="http://3.bp.blogspot.com/-o-ER_RfXZDA/Ts8h5n6nHzI/AAAAAAAAAB4/5Bz9-Hlbotk/s1600/COMPU.jpg"/>
          <p:cNvPicPr>
            <a:picLocks noChangeAspect="1" noChangeArrowheads="1"/>
          </p:cNvPicPr>
          <p:nvPr/>
        </p:nvPicPr>
        <p:blipFill>
          <a:blip r:embed="rId3" cstate="print"/>
          <a:srcRect/>
          <a:stretch>
            <a:fillRect/>
          </a:stretch>
        </p:blipFill>
        <p:spPr bwMode="auto">
          <a:xfrm>
            <a:off x="755576" y="3789040"/>
            <a:ext cx="3168352" cy="2636069"/>
          </a:xfrm>
          <a:prstGeom prst="rect">
            <a:avLst/>
          </a:prstGeom>
          <a:noFill/>
        </p:spPr>
      </p:pic>
    </p:spTree>
    <p:extLst>
      <p:ext uri="{BB962C8B-B14F-4D97-AF65-F5344CB8AC3E}">
        <p14:creationId xmlns:p14="http://schemas.microsoft.com/office/powerpoint/2010/main" val="28594841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11560" y="1124744"/>
            <a:ext cx="7467600" cy="4032447"/>
          </a:xfrm>
        </p:spPr>
        <p:txBody>
          <a:bodyPr>
            <a:normAutofit lnSpcReduction="10000"/>
          </a:bodyPr>
          <a:lstStyle/>
          <a:p>
            <a:r>
              <a:rPr lang="es-ES" sz="2300" dirty="0" smtClean="0">
                <a:latin typeface="Gisha" panose="020B0502040204020203" pitchFamily="34" charset="-79"/>
                <a:cs typeface="Gisha" panose="020B0502040204020203" pitchFamily="34" charset="-79"/>
              </a:rPr>
              <a:t>La diferencia mas importante entre computadoras digitales y análogas es la manera en que representan datos.</a:t>
            </a:r>
            <a:br>
              <a:rPr lang="es-ES" sz="2300" dirty="0" smtClean="0">
                <a:latin typeface="Gisha" panose="020B0502040204020203" pitchFamily="34" charset="-79"/>
                <a:cs typeface="Gisha" panose="020B0502040204020203" pitchFamily="34" charset="-79"/>
              </a:rPr>
            </a:br>
            <a:r>
              <a:rPr lang="es-ES" sz="2300" dirty="0" smtClean="0">
                <a:latin typeface="Gisha" panose="020B0502040204020203" pitchFamily="34" charset="-79"/>
                <a:cs typeface="Gisha" panose="020B0502040204020203" pitchFamily="34" charset="-79"/>
              </a:rPr>
              <a:t>DIGITALES: Representan datos con respecto a un valor distinto a otro.</a:t>
            </a:r>
            <a:br>
              <a:rPr lang="es-ES" sz="2300" dirty="0" smtClean="0">
                <a:latin typeface="Gisha" panose="020B0502040204020203" pitchFamily="34" charset="-79"/>
                <a:cs typeface="Gisha" panose="020B0502040204020203" pitchFamily="34" charset="-79"/>
              </a:rPr>
            </a:br>
            <a:r>
              <a:rPr lang="es-ES" sz="2300" dirty="0" smtClean="0">
                <a:latin typeface="Gisha" panose="020B0502040204020203" pitchFamily="34" charset="-79"/>
                <a:cs typeface="Gisha" panose="020B0502040204020203" pitchFamily="34" charset="-79"/>
              </a:rPr>
              <a:t>ANALOGAS: Representan puntos variables a lo largo de un espectro de valores continuos.</a:t>
            </a:r>
          </a:p>
          <a:p>
            <a:pPr marL="36576" indent="0">
              <a:buNone/>
            </a:pPr>
            <a:endParaRPr lang="es-ES" sz="2300" dirty="0" smtClean="0">
              <a:latin typeface="Gisha" panose="020B0502040204020203" pitchFamily="34" charset="-79"/>
              <a:cs typeface="Gisha" panose="020B0502040204020203" pitchFamily="34" charset="-79"/>
            </a:endParaRPr>
          </a:p>
          <a:p>
            <a:r>
              <a:rPr lang="es-ES" sz="2300" dirty="0">
                <a:latin typeface="Gisha" panose="020B0502040204020203" pitchFamily="34" charset="-79"/>
                <a:cs typeface="Gisha" panose="020B0502040204020203" pitchFamily="34" charset="-79"/>
              </a:rPr>
              <a:t>Las computadoras se pueden clasificar por el números de personas que la pueden utilizar a la vez, por su poder(velocidad a la que trabajan), software, hardware, entre otras.</a:t>
            </a:r>
          </a:p>
          <a:p>
            <a:endParaRPr lang="es-ES" dirty="0"/>
          </a:p>
        </p:txBody>
      </p:sp>
    </p:spTree>
    <p:extLst>
      <p:ext uri="{BB962C8B-B14F-4D97-AF65-F5344CB8AC3E}">
        <p14:creationId xmlns:p14="http://schemas.microsoft.com/office/powerpoint/2010/main" val="7130135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260648"/>
            <a:ext cx="7467600" cy="1143000"/>
          </a:xfrm>
        </p:spPr>
        <p:txBody>
          <a:bodyPr>
            <a:noAutofit/>
          </a:bodyPr>
          <a:lstStyle/>
          <a:p>
            <a:pPr algn="ctr"/>
            <a:r>
              <a:rPr lang="es-ES" sz="3600" dirty="0">
                <a:solidFill>
                  <a:srgbClr val="C00000"/>
                </a:solidFill>
                <a:latin typeface="Constantia" panose="02030602050306030303" pitchFamily="18" charset="0"/>
              </a:rPr>
              <a:t>CLASIFICACION DE LAS COMPUTADORAS SEGÚN SU USO</a:t>
            </a:r>
            <a:endParaRPr lang="es-ES" sz="3600" dirty="0">
              <a:solidFill>
                <a:srgbClr val="C00000"/>
              </a:solidFill>
              <a:latin typeface="Constantia" panose="02030602050306030303" pitchFamily="18" charset="0"/>
            </a:endParaRPr>
          </a:p>
        </p:txBody>
      </p:sp>
      <p:sp>
        <p:nvSpPr>
          <p:cNvPr id="3" name="2 Marcador de contenido"/>
          <p:cNvSpPr>
            <a:spLocks noGrp="1"/>
          </p:cNvSpPr>
          <p:nvPr>
            <p:ph sz="half" idx="1"/>
          </p:nvPr>
        </p:nvSpPr>
        <p:spPr>
          <a:xfrm>
            <a:off x="457200" y="1600200"/>
            <a:ext cx="3898776" cy="4525963"/>
          </a:xfrm>
        </p:spPr>
        <p:txBody>
          <a:bodyPr>
            <a:normAutofit/>
          </a:bodyPr>
          <a:lstStyle/>
          <a:p>
            <a:r>
              <a:rPr lang="es-ES" dirty="0" smtClean="0">
                <a:solidFill>
                  <a:srgbClr val="00B0F0"/>
                </a:solidFill>
                <a:latin typeface="Gisha" panose="020B0502040204020203" pitchFamily="34" charset="-79"/>
                <a:cs typeface="Gisha" panose="020B0502040204020203" pitchFamily="34" charset="-79"/>
              </a:rPr>
              <a:t>USO INDIVIDUAL</a:t>
            </a:r>
            <a:r>
              <a:rPr lang="es-ES" sz="2400" dirty="0" smtClean="0">
                <a:latin typeface="Gisha" panose="020B0502040204020203" pitchFamily="34" charset="-79"/>
                <a:cs typeface="Gisha" panose="020B0502040204020203" pitchFamily="34" charset="-79"/>
              </a:rPr>
              <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-Computadoras de escritorio</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-Estación de trabajo</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-Laptop</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a:t>
            </a:r>
            <a:r>
              <a:rPr lang="es-ES" sz="2400" dirty="0" err="1" smtClean="0">
                <a:latin typeface="Gisha" panose="020B0502040204020203" pitchFamily="34" charset="-79"/>
                <a:cs typeface="Gisha" panose="020B0502040204020203" pitchFamily="34" charset="-79"/>
              </a:rPr>
              <a:t>Tablet</a:t>
            </a:r>
            <a:r>
              <a:rPr lang="es-ES" sz="2400" dirty="0" smtClean="0">
                <a:latin typeface="Gisha" panose="020B0502040204020203" pitchFamily="34" charset="-79"/>
                <a:cs typeface="Gisha" panose="020B0502040204020203" pitchFamily="34" charset="-79"/>
              </a:rPr>
              <a:t> PC</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a:t>
            </a:r>
            <a:r>
              <a:rPr lang="es-ES" sz="2400" dirty="0" err="1" smtClean="0">
                <a:latin typeface="Gisha" panose="020B0502040204020203" pitchFamily="34" charset="-79"/>
                <a:cs typeface="Gisha" panose="020B0502040204020203" pitchFamily="34" charset="-79"/>
              </a:rPr>
              <a:t>Handheld</a:t>
            </a:r>
            <a:r>
              <a:rPr lang="es-ES" sz="2400" dirty="0" smtClean="0">
                <a:latin typeface="Gisha" panose="020B0502040204020203" pitchFamily="34" charset="-79"/>
                <a:cs typeface="Gisha" panose="020B0502040204020203" pitchFamily="34" charset="-79"/>
              </a:rPr>
              <a:t> PC</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a:t>
            </a:r>
            <a:r>
              <a:rPr lang="es-ES" sz="2400" dirty="0" err="1" smtClean="0">
                <a:latin typeface="Gisha" panose="020B0502040204020203" pitchFamily="34" charset="-79"/>
                <a:cs typeface="Gisha" panose="020B0502040204020203" pitchFamily="34" charset="-79"/>
              </a:rPr>
              <a:t>Telefonos</a:t>
            </a:r>
            <a:r>
              <a:rPr lang="es-ES" sz="2400" dirty="0" smtClean="0">
                <a:latin typeface="Gisha" panose="020B0502040204020203" pitchFamily="34" charset="-79"/>
                <a:cs typeface="Gisha" panose="020B0502040204020203" pitchFamily="34" charset="-79"/>
              </a:rPr>
              <a:t> Inteligentes</a:t>
            </a:r>
            <a:r>
              <a:rPr lang="es-ES" dirty="0" smtClean="0"/>
              <a:t/>
            </a:r>
            <a:br>
              <a:rPr lang="es-ES" dirty="0" smtClean="0"/>
            </a:br>
            <a:r>
              <a:rPr lang="es-ES" dirty="0" smtClean="0"/>
              <a:t/>
            </a:r>
            <a:br>
              <a:rPr lang="es-ES" dirty="0" smtClean="0"/>
            </a:br>
            <a:r>
              <a:rPr lang="es-ES" dirty="0" smtClean="0"/>
              <a:t/>
            </a:r>
            <a:br>
              <a:rPr lang="es-ES" dirty="0" smtClean="0"/>
            </a:br>
            <a:endParaRPr lang="es-ES" dirty="0" smtClean="0"/>
          </a:p>
        </p:txBody>
      </p:sp>
      <p:sp>
        <p:nvSpPr>
          <p:cNvPr id="4" name="3 Marcador de contenido"/>
          <p:cNvSpPr>
            <a:spLocks noGrp="1"/>
          </p:cNvSpPr>
          <p:nvPr>
            <p:ph sz="half" idx="2"/>
          </p:nvPr>
        </p:nvSpPr>
        <p:spPr>
          <a:xfrm>
            <a:off x="4267200" y="1600200"/>
            <a:ext cx="4121224" cy="4525963"/>
          </a:xfrm>
        </p:spPr>
        <p:txBody>
          <a:bodyPr>
            <a:normAutofit/>
          </a:bodyPr>
          <a:lstStyle/>
          <a:p>
            <a:r>
              <a:rPr lang="es-ES" dirty="0" smtClean="0">
                <a:solidFill>
                  <a:srgbClr val="00B0F0"/>
                </a:solidFill>
                <a:latin typeface="Gisha" panose="020B0502040204020203" pitchFamily="34" charset="-79"/>
                <a:cs typeface="Gisha" panose="020B0502040204020203" pitchFamily="34" charset="-79"/>
              </a:rPr>
              <a:t>USO ORGANIZACIONAL</a:t>
            </a:r>
            <a:r>
              <a:rPr lang="es-ES" dirty="0" smtClean="0">
                <a:latin typeface="Gisha" panose="020B0502040204020203" pitchFamily="34" charset="-79"/>
                <a:cs typeface="Gisha" panose="020B0502040204020203" pitchFamily="34" charset="-79"/>
              </a:rPr>
              <a:t/>
            </a:r>
            <a:br>
              <a:rPr lang="es-ES"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-Servidores de red</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-Mainframe</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-Minicomputadoras</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-Supercomputadoras</a:t>
            </a:r>
          </a:p>
        </p:txBody>
      </p:sp>
    </p:spTree>
    <p:extLst>
      <p:ext uri="{BB962C8B-B14F-4D97-AF65-F5344CB8AC3E}">
        <p14:creationId xmlns:p14="http://schemas.microsoft.com/office/powerpoint/2010/main" val="42147966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pPr algn="ctr"/>
            <a:r>
              <a:rPr lang="es-ES" sz="3600" dirty="0">
                <a:solidFill>
                  <a:srgbClr val="C00000"/>
                </a:solidFill>
                <a:latin typeface="Constantia" panose="02030602050306030303" pitchFamily="18" charset="0"/>
              </a:rPr>
              <a:t>COMPUTADORAS DE USO INDIVIDUAL</a:t>
            </a:r>
            <a:endParaRPr lang="es-ES" sz="3600" dirty="0">
              <a:solidFill>
                <a:srgbClr val="C00000"/>
              </a:solidFill>
              <a:latin typeface="Constantia" panose="02030602050306030303" pitchFamily="18" charset="0"/>
            </a:endParaRPr>
          </a:p>
        </p:txBody>
      </p:sp>
      <p:sp>
        <p:nvSpPr>
          <p:cNvPr id="3" name="2 Marcador de contenido"/>
          <p:cNvSpPr>
            <a:spLocks noGrp="1"/>
          </p:cNvSpPr>
          <p:nvPr>
            <p:ph idx="1"/>
          </p:nvPr>
        </p:nvSpPr>
        <p:spPr/>
        <p:txBody>
          <a:bodyPr>
            <a:normAutofit/>
          </a:bodyPr>
          <a:lstStyle/>
          <a:p>
            <a:pPr marL="36576" indent="0" algn="just">
              <a:buNone/>
            </a:pPr>
            <a:r>
              <a:rPr lang="es-ES" sz="2400" dirty="0" smtClean="0">
                <a:latin typeface="Gisha" panose="020B0502040204020203" pitchFamily="34" charset="-79"/>
                <a:cs typeface="Gisha" panose="020B0502040204020203" pitchFamily="34" charset="-79"/>
              </a:rPr>
              <a:t>La mayoría de las computadoras están hechas para que las use una sola persona a la vez. En ocasiones estas pueden compartir la computadora, pero solo un usuario trabaja con esta a la vez.</a:t>
            </a:r>
          </a:p>
          <a:p>
            <a:pPr marL="36576" indent="0">
              <a:buNone/>
            </a:pPr>
            <a:endParaRPr lang="es-ES" sz="2400" dirty="0" smtClean="0">
              <a:latin typeface="Gisha" panose="020B0502040204020203" pitchFamily="34" charset="-79"/>
              <a:cs typeface="Gisha" panose="020B0502040204020203" pitchFamily="34" charset="-79"/>
            </a:endParaRPr>
          </a:p>
          <a:p>
            <a:pPr marL="36576" indent="0">
              <a:buNone/>
            </a:pPr>
            <a:r>
              <a:rPr lang="es-ES" sz="2400" dirty="0" smtClean="0">
                <a:latin typeface="Gisha" panose="020B0502040204020203" pitchFamily="34" charset="-79"/>
                <a:cs typeface="Gisha" panose="020B0502040204020203" pitchFamily="34" charset="-79"/>
              </a:rPr>
              <a:t>Los principales tipos de computadoras individuales son:</a:t>
            </a:r>
          </a:p>
          <a:p>
            <a:pPr marL="36576" indent="0">
              <a:buNone/>
            </a:pPr>
            <a:endParaRPr lang="es-ES" sz="1500" dirty="0" smtClean="0">
              <a:latin typeface="Gisha" panose="020B0502040204020203" pitchFamily="34" charset="-79"/>
              <a:cs typeface="Gisha" panose="020B0502040204020203" pitchFamily="34" charset="-79"/>
            </a:endParaRPr>
          </a:p>
          <a:p>
            <a:pPr>
              <a:buNone/>
            </a:pPr>
            <a:endParaRPr lang="es-ES" sz="1500" dirty="0" smtClean="0"/>
          </a:p>
          <a:p>
            <a:endParaRPr lang="es-ES" sz="1500" dirty="0" smtClean="0"/>
          </a:p>
          <a:p>
            <a:endParaRPr lang="es-ES" sz="1500" dirty="0" smtClean="0"/>
          </a:p>
          <a:p>
            <a:pPr>
              <a:buNone/>
            </a:pPr>
            <a:endParaRPr lang="es-ES" sz="1500" dirty="0" smtClean="0"/>
          </a:p>
        </p:txBody>
      </p:sp>
    </p:spTree>
    <p:extLst>
      <p:ext uri="{BB962C8B-B14F-4D97-AF65-F5344CB8AC3E}">
        <p14:creationId xmlns:p14="http://schemas.microsoft.com/office/powerpoint/2010/main" val="34324453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692696"/>
            <a:ext cx="5554960" cy="5616624"/>
          </a:xfrm>
        </p:spPr>
        <p:txBody>
          <a:bodyPr>
            <a:normAutofit fontScale="62500" lnSpcReduction="20000"/>
          </a:bodyPr>
          <a:lstStyle/>
          <a:p>
            <a:pPr marL="36576" indent="0">
              <a:buNone/>
            </a:pPr>
            <a:r>
              <a:rPr lang="es-ES" sz="3200" dirty="0" smtClean="0">
                <a:solidFill>
                  <a:srgbClr val="00B0F0"/>
                </a:solidFill>
                <a:latin typeface="Gisha" panose="020B0502040204020203" pitchFamily="34" charset="-79"/>
                <a:cs typeface="Gisha" panose="020B0502040204020203" pitchFamily="34" charset="-79"/>
              </a:rPr>
              <a:t>COMPUTADORAS DE ESCRITORIO</a:t>
            </a:r>
            <a:r>
              <a:rPr lang="es-ES" sz="3200" dirty="0" smtClean="0">
                <a:latin typeface="Gisha" panose="020B0502040204020203" pitchFamily="34" charset="-79"/>
                <a:cs typeface="Gisha" panose="020B0502040204020203" pitchFamily="34" charset="-79"/>
              </a:rPr>
              <a:t/>
            </a:r>
            <a:br>
              <a:rPr lang="es-ES" sz="3200" dirty="0" smtClean="0">
                <a:latin typeface="Gisha" panose="020B0502040204020203" pitchFamily="34" charset="-79"/>
                <a:cs typeface="Gisha" panose="020B0502040204020203" pitchFamily="34" charset="-79"/>
              </a:rPr>
            </a:br>
            <a:r>
              <a:rPr lang="es-ES" sz="3200" dirty="0" smtClean="0">
                <a:latin typeface="Gisha" panose="020B0502040204020203" pitchFamily="34" charset="-79"/>
                <a:cs typeface="Gisha" panose="020B0502040204020203" pitchFamily="34" charset="-79"/>
              </a:rPr>
              <a:t>Esta se utiliza no solo para hacer trabajos sino también para comunicarse, producir música, editar fotografías, jugar juegos sofisticados , entre otras.</a:t>
            </a:r>
            <a:br>
              <a:rPr lang="es-ES" sz="3200" dirty="0" smtClean="0">
                <a:latin typeface="Gisha" panose="020B0502040204020203" pitchFamily="34" charset="-79"/>
                <a:cs typeface="Gisha" panose="020B0502040204020203" pitchFamily="34" charset="-79"/>
              </a:rPr>
            </a:br>
            <a:r>
              <a:rPr lang="es-ES" sz="3200" dirty="0" smtClean="0">
                <a:latin typeface="Gisha" panose="020B0502040204020203" pitchFamily="34" charset="-79"/>
                <a:cs typeface="Gisha" panose="020B0502040204020203" pitchFamily="34" charset="-79"/>
              </a:rPr>
              <a:t>Este es el tipo mas común de computadora personal se le pueda encontrar en escuelas hogares y oficinas. Esta diseñada para estar encima de una mesa.</a:t>
            </a:r>
            <a:br>
              <a:rPr lang="es-ES" sz="3200" dirty="0" smtClean="0">
                <a:latin typeface="Gisha" panose="020B0502040204020203" pitchFamily="34" charset="-79"/>
                <a:cs typeface="Gisha" panose="020B0502040204020203" pitchFamily="34" charset="-79"/>
              </a:rPr>
            </a:br>
            <a:r>
              <a:rPr lang="es-ES" sz="3200" dirty="0" smtClean="0">
                <a:latin typeface="Gisha" panose="020B0502040204020203" pitchFamily="34" charset="-79"/>
                <a:cs typeface="Gisha" panose="020B0502040204020203" pitchFamily="34" charset="-79"/>
              </a:rPr>
              <a:t>El principal componente de esta es la unidad de sistema, es decir, el gabinete que aloja las partes importantes de la computadora, como sus dispositivos de almacenamiento y procesamiento.</a:t>
            </a:r>
            <a:br>
              <a:rPr lang="es-ES" sz="3200" dirty="0" smtClean="0">
                <a:latin typeface="Gisha" panose="020B0502040204020203" pitchFamily="34" charset="-79"/>
                <a:cs typeface="Gisha" panose="020B0502040204020203" pitchFamily="34" charset="-79"/>
              </a:rPr>
            </a:br>
            <a:r>
              <a:rPr lang="es-ES" sz="3200" dirty="0" smtClean="0">
                <a:latin typeface="Gisha" panose="020B0502040204020203" pitchFamily="34" charset="-79"/>
                <a:cs typeface="Gisha" panose="020B0502040204020203" pitchFamily="34" charset="-79"/>
              </a:rPr>
              <a:t>Existen dos modelos de computadora de escritorio:</a:t>
            </a:r>
          </a:p>
          <a:p>
            <a:pPr marL="36576" indent="0">
              <a:buNone/>
            </a:pPr>
            <a:r>
              <a:rPr lang="es-ES" sz="3200" dirty="0" smtClean="0">
                <a:latin typeface="Gisha" panose="020B0502040204020203" pitchFamily="34" charset="-79"/>
                <a:cs typeface="Gisha" panose="020B0502040204020203" pitchFamily="34" charset="-79"/>
              </a:rPr>
              <a:t/>
            </a:r>
            <a:br>
              <a:rPr lang="es-ES" sz="3200" dirty="0" smtClean="0">
                <a:latin typeface="Gisha" panose="020B0502040204020203" pitchFamily="34" charset="-79"/>
                <a:cs typeface="Gisha" panose="020B0502040204020203" pitchFamily="34" charset="-79"/>
              </a:rPr>
            </a:br>
            <a:r>
              <a:rPr lang="es-ES" sz="3200" dirty="0" smtClean="0">
                <a:solidFill>
                  <a:schemeClr val="accent2">
                    <a:lumMod val="60000"/>
                    <a:lumOff val="40000"/>
                  </a:schemeClr>
                </a:solidFill>
                <a:latin typeface="Gisha" panose="020B0502040204020203" pitchFamily="34" charset="-79"/>
                <a:cs typeface="Gisha" panose="020B0502040204020203" pitchFamily="34" charset="-79"/>
              </a:rPr>
              <a:t>HORIZONTAL: </a:t>
            </a:r>
            <a:r>
              <a:rPr lang="es-ES" sz="3200" dirty="0" smtClean="0">
                <a:latin typeface="Gisha" panose="020B0502040204020203" pitchFamily="34" charset="-79"/>
                <a:cs typeface="Gisha" panose="020B0502040204020203" pitchFamily="34" charset="-79"/>
              </a:rPr>
              <a:t>Unidad de sistemas horizontal y monitor encima de esta.</a:t>
            </a:r>
            <a:br>
              <a:rPr lang="es-ES" sz="3200" dirty="0" smtClean="0">
                <a:latin typeface="Gisha" panose="020B0502040204020203" pitchFamily="34" charset="-79"/>
                <a:cs typeface="Gisha" panose="020B0502040204020203" pitchFamily="34" charset="-79"/>
              </a:rPr>
            </a:br>
            <a:r>
              <a:rPr lang="es-ES" sz="3200" dirty="0" smtClean="0">
                <a:latin typeface="Gisha" panose="020B0502040204020203" pitchFamily="34" charset="-79"/>
                <a:cs typeface="Gisha" panose="020B0502040204020203" pitchFamily="34" charset="-79"/>
              </a:rPr>
              <a:t/>
            </a:r>
            <a:br>
              <a:rPr lang="es-ES" sz="3200" dirty="0" smtClean="0">
                <a:latin typeface="Gisha" panose="020B0502040204020203" pitchFamily="34" charset="-79"/>
                <a:cs typeface="Gisha" panose="020B0502040204020203" pitchFamily="34" charset="-79"/>
              </a:rPr>
            </a:br>
            <a:r>
              <a:rPr lang="es-ES" sz="3200" dirty="0">
                <a:solidFill>
                  <a:schemeClr val="accent2">
                    <a:lumMod val="60000"/>
                    <a:lumOff val="40000"/>
                  </a:schemeClr>
                </a:solidFill>
                <a:latin typeface="Gisha" panose="020B0502040204020203" pitchFamily="34" charset="-79"/>
                <a:cs typeface="Gisha" panose="020B0502040204020203" pitchFamily="34" charset="-79"/>
              </a:rPr>
              <a:t>TORRE: </a:t>
            </a:r>
            <a:r>
              <a:rPr lang="es-ES" sz="3200" dirty="0" smtClean="0">
                <a:latin typeface="Gisha" panose="020B0502040204020203" pitchFamily="34" charset="-79"/>
                <a:cs typeface="Gisha" panose="020B0502040204020203" pitchFamily="34" charset="-79"/>
              </a:rPr>
              <a:t>Aquí se puede colocar la unidad de sistemas debajo del escritorio.</a:t>
            </a:r>
          </a:p>
          <a:p>
            <a:pPr marL="36576" indent="0">
              <a:buNone/>
            </a:pPr>
            <a:endParaRPr lang="es-ES" sz="3200" dirty="0" smtClean="0">
              <a:latin typeface="Gisha" panose="020B0502040204020203" pitchFamily="34" charset="-79"/>
              <a:cs typeface="Gisha" panose="020B0502040204020203" pitchFamily="34" charset="-79"/>
            </a:endParaRPr>
          </a:p>
          <a:p>
            <a:pPr>
              <a:buNone/>
            </a:pPr>
            <a:endParaRPr lang="es-ES" sz="3200" dirty="0" smtClean="0"/>
          </a:p>
          <a:p>
            <a:endParaRPr lang="es-ES" dirty="0"/>
          </a:p>
        </p:txBody>
      </p:sp>
      <p:pic>
        <p:nvPicPr>
          <p:cNvPr id="40962" name="Picture 2" descr="Resultado de imagen para computadoras horizontal"/>
          <p:cNvPicPr>
            <a:picLocks noChangeAspect="1" noChangeArrowheads="1"/>
          </p:cNvPicPr>
          <p:nvPr/>
        </p:nvPicPr>
        <p:blipFill>
          <a:blip r:embed="rId2" cstate="print"/>
          <a:srcRect/>
          <a:stretch>
            <a:fillRect/>
          </a:stretch>
        </p:blipFill>
        <p:spPr bwMode="auto">
          <a:xfrm>
            <a:off x="6156176" y="980728"/>
            <a:ext cx="2486025" cy="1838325"/>
          </a:xfrm>
          <a:prstGeom prst="rect">
            <a:avLst/>
          </a:prstGeom>
          <a:noFill/>
        </p:spPr>
      </p:pic>
      <p:pic>
        <p:nvPicPr>
          <p:cNvPr id="40964" name="Picture 4" descr="Resultado de imagen para computadoras en torre"/>
          <p:cNvPicPr>
            <a:picLocks noChangeAspect="1" noChangeArrowheads="1"/>
          </p:cNvPicPr>
          <p:nvPr/>
        </p:nvPicPr>
        <p:blipFill>
          <a:blip r:embed="rId3" cstate="print"/>
          <a:srcRect/>
          <a:stretch>
            <a:fillRect/>
          </a:stretch>
        </p:blipFill>
        <p:spPr bwMode="auto">
          <a:xfrm>
            <a:off x="6300192" y="3933056"/>
            <a:ext cx="2286000" cy="2000251"/>
          </a:xfrm>
          <a:prstGeom prst="rect">
            <a:avLst/>
          </a:prstGeom>
          <a:noFill/>
        </p:spPr>
      </p:pic>
    </p:spTree>
    <p:extLst>
      <p:ext uri="{BB962C8B-B14F-4D97-AF65-F5344CB8AC3E}">
        <p14:creationId xmlns:p14="http://schemas.microsoft.com/office/powerpoint/2010/main" val="3193627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16257" y="472903"/>
            <a:ext cx="5050904" cy="5721499"/>
          </a:xfrm>
        </p:spPr>
        <p:txBody>
          <a:bodyPr>
            <a:normAutofit fontScale="85000" lnSpcReduction="20000"/>
          </a:bodyPr>
          <a:lstStyle/>
          <a:p>
            <a:pPr marL="36576" indent="0">
              <a:buNone/>
            </a:pPr>
            <a:r>
              <a:rPr lang="es-ES" sz="2400" dirty="0">
                <a:solidFill>
                  <a:srgbClr val="00B0F0"/>
                </a:solidFill>
                <a:latin typeface="Gisha" panose="020B0502040204020203" pitchFamily="34" charset="-79"/>
                <a:cs typeface="Gisha" panose="020B0502040204020203" pitchFamily="34" charset="-79"/>
              </a:rPr>
              <a:t>ESTACIONES DE TRABAJO</a:t>
            </a:r>
            <a:r>
              <a:rPr lang="es-ES" sz="2400" dirty="0" smtClean="0">
                <a:latin typeface="Gisha" panose="020B0502040204020203" pitchFamily="34" charset="-79"/>
                <a:cs typeface="Gisha" panose="020B0502040204020203" pitchFamily="34" charset="-79"/>
              </a:rPr>
              <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Esta tiene mas poder que una PC de escritorio, estas son mas populares entre científicos ingenieros y animadores debido a sus monitores grandes de alta resolución y capacidad de aceleración y diseño gráficos.</a:t>
            </a:r>
          </a:p>
          <a:p>
            <a:pPr marL="36576" indent="0">
              <a:buNone/>
            </a:pPr>
            <a:endParaRPr lang="es-ES" sz="2400" dirty="0" smtClean="0">
              <a:latin typeface="Gisha" panose="020B0502040204020203" pitchFamily="34" charset="-79"/>
              <a:cs typeface="Gisha" panose="020B0502040204020203" pitchFamily="34" charset="-79"/>
            </a:endParaRPr>
          </a:p>
          <a:p>
            <a:pPr marL="36576" indent="0">
              <a:buNone/>
            </a:pPr>
            <a:r>
              <a:rPr lang="es-ES" sz="2400" dirty="0">
                <a:solidFill>
                  <a:srgbClr val="00B0F0"/>
                </a:solidFill>
                <a:latin typeface="Gisha" panose="020B0502040204020203" pitchFamily="34" charset="-79"/>
                <a:cs typeface="Gisha" panose="020B0502040204020203" pitchFamily="34" charset="-79"/>
              </a:rPr>
              <a:t>COMPUTADORAS LAPTOP</a:t>
            </a:r>
            <a:r>
              <a:rPr lang="es-ES" sz="2400" dirty="0" smtClean="0">
                <a:latin typeface="Gisha" panose="020B0502040204020203" pitchFamily="34" charset="-79"/>
                <a:cs typeface="Gisha" panose="020B0502040204020203" pitchFamily="34" charset="-79"/>
              </a:rPr>
              <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Estas tienen forma de cuaderno y entra fácilmente en un portafolios.</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Las computadoras laptop son microcomputadoras que realizan todas las funciones de una computadora de escritorio normal en lugares a los que van.</a:t>
            </a:r>
            <a:br>
              <a:rPr lang="es-ES" sz="2400" dirty="0" smtClean="0">
                <a:latin typeface="Gisha" panose="020B0502040204020203" pitchFamily="34" charset="-79"/>
                <a:cs typeface="Gisha" panose="020B0502040204020203" pitchFamily="34" charset="-79"/>
              </a:rPr>
            </a:br>
            <a:r>
              <a:rPr lang="es-ES" sz="2400" dirty="0" smtClean="0">
                <a:latin typeface="Gisha" panose="020B0502040204020203" pitchFamily="34" charset="-79"/>
                <a:cs typeface="Gisha" panose="020B0502040204020203" pitchFamily="34" charset="-79"/>
              </a:rPr>
              <a:t>Algunas computadoras laptop están diseñadas para conectarse a una estación de acoplamiento la cual puede incluir monitor, teclado y mouse mas grandes.</a:t>
            </a:r>
          </a:p>
          <a:p>
            <a:pPr marL="36576" indent="0">
              <a:buNone/>
            </a:pPr>
            <a:endParaRPr lang="es-ES" sz="1500" dirty="0" smtClean="0">
              <a:latin typeface="Gisha" panose="020B0502040204020203" pitchFamily="34" charset="-79"/>
              <a:cs typeface="Gisha" panose="020B0502040204020203" pitchFamily="34" charset="-79"/>
            </a:endParaRPr>
          </a:p>
          <a:p>
            <a:pPr marL="36576" indent="0">
              <a:buNone/>
            </a:pPr>
            <a:r>
              <a:rPr lang="es-ES" sz="1500" dirty="0" smtClean="0"/>
              <a:t/>
            </a:r>
            <a:br>
              <a:rPr lang="es-ES" sz="1500" dirty="0" smtClean="0"/>
            </a:br>
            <a:r>
              <a:rPr lang="es-ES" sz="1500" dirty="0" smtClean="0"/>
              <a:t/>
            </a:r>
            <a:br>
              <a:rPr lang="es-ES" sz="1500" dirty="0" smtClean="0"/>
            </a:br>
            <a:endParaRPr lang="es-ES" sz="1500" dirty="0" smtClean="0"/>
          </a:p>
        </p:txBody>
      </p:sp>
      <p:pic>
        <p:nvPicPr>
          <p:cNvPr id="16386" name="Picture 2" descr="Resultado de imagen para diseñador usando computadora"/>
          <p:cNvPicPr>
            <a:picLocks noChangeAspect="1" noChangeArrowheads="1"/>
          </p:cNvPicPr>
          <p:nvPr/>
        </p:nvPicPr>
        <p:blipFill>
          <a:blip r:embed="rId2" cstate="print"/>
          <a:srcRect/>
          <a:stretch>
            <a:fillRect/>
          </a:stretch>
        </p:blipFill>
        <p:spPr bwMode="auto">
          <a:xfrm>
            <a:off x="5508104" y="3140968"/>
            <a:ext cx="3374458" cy="1872208"/>
          </a:xfrm>
          <a:prstGeom prst="rect">
            <a:avLst/>
          </a:prstGeom>
          <a:noFill/>
        </p:spPr>
      </p:pic>
      <p:pic>
        <p:nvPicPr>
          <p:cNvPr id="16388" name="Picture 4" descr="https://encrypted-tbn3.gstatic.com/images?q=tbn:ANd9GcQ65-sTn-XCYkWZ5h3VVBXeiIXi-BXiPa0fpyBrC01uX0JgI8MQ"/>
          <p:cNvPicPr>
            <a:picLocks noChangeAspect="1" noChangeArrowheads="1"/>
          </p:cNvPicPr>
          <p:nvPr/>
        </p:nvPicPr>
        <p:blipFill>
          <a:blip r:embed="rId3" cstate="print"/>
          <a:srcRect/>
          <a:stretch>
            <a:fillRect/>
          </a:stretch>
        </p:blipFill>
        <p:spPr bwMode="auto">
          <a:xfrm>
            <a:off x="5580112" y="476672"/>
            <a:ext cx="3096344" cy="2053012"/>
          </a:xfrm>
          <a:prstGeom prst="rect">
            <a:avLst/>
          </a:prstGeom>
          <a:noFill/>
        </p:spPr>
      </p:pic>
    </p:spTree>
    <p:extLst>
      <p:ext uri="{BB962C8B-B14F-4D97-AF65-F5344CB8AC3E}">
        <p14:creationId xmlns:p14="http://schemas.microsoft.com/office/powerpoint/2010/main" val="15078219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332656"/>
            <a:ext cx="5770984" cy="5577483"/>
          </a:xfrm>
        </p:spPr>
        <p:txBody>
          <a:bodyPr>
            <a:noAutofit/>
          </a:bodyPr>
          <a:lstStyle/>
          <a:p>
            <a:pPr marL="36576" indent="0">
              <a:buNone/>
            </a:pPr>
            <a:r>
              <a:rPr lang="es-ES" sz="2000" dirty="0">
                <a:solidFill>
                  <a:srgbClr val="00B0F0"/>
                </a:solidFill>
                <a:latin typeface="Gisha" panose="020B0502040204020203" pitchFamily="34" charset="-79"/>
                <a:cs typeface="Gisha" panose="020B0502040204020203" pitchFamily="34" charset="-79"/>
              </a:rPr>
              <a:t>TABLET PC</a:t>
            </a:r>
            <a:r>
              <a:rPr lang="es-ES" sz="1600" dirty="0" smtClean="0">
                <a:latin typeface="Gisha" panose="020B0502040204020203" pitchFamily="34" charset="-79"/>
                <a:cs typeface="Gisha" panose="020B0502040204020203" pitchFamily="34" charset="-79"/>
              </a:rPr>
              <a:t/>
            </a:r>
            <a:br>
              <a:rPr lang="es-ES" sz="1600" dirty="0" smtClean="0">
                <a:latin typeface="Gisha" panose="020B0502040204020203" pitchFamily="34" charset="-79"/>
                <a:cs typeface="Gisha" panose="020B0502040204020203" pitchFamily="34" charset="-79"/>
              </a:rPr>
            </a:br>
            <a:r>
              <a:rPr lang="es-ES" sz="1600" dirty="0" smtClean="0">
                <a:latin typeface="Gisha" panose="020B0502040204020203" pitchFamily="34" charset="-79"/>
                <a:cs typeface="Gisha" panose="020B0502040204020203" pitchFamily="34" charset="-79"/>
              </a:rPr>
              <a:t>Las </a:t>
            </a:r>
            <a:r>
              <a:rPr lang="es-ES" sz="1600" dirty="0" err="1" smtClean="0">
                <a:latin typeface="Gisha" panose="020B0502040204020203" pitchFamily="34" charset="-79"/>
                <a:cs typeface="Gisha" panose="020B0502040204020203" pitchFamily="34" charset="-79"/>
              </a:rPr>
              <a:t>tablets</a:t>
            </a:r>
            <a:r>
              <a:rPr lang="es-ES" sz="1600" dirty="0" smtClean="0">
                <a:latin typeface="Gisha" panose="020B0502040204020203" pitchFamily="34" charset="-79"/>
                <a:cs typeface="Gisha" panose="020B0502040204020203" pitchFamily="34" charset="-79"/>
              </a:rPr>
              <a:t> PC ofrecen las mismas funciones que una laptop pero son mas ligeras y acepta introducción de datos con una pluma especial(</a:t>
            </a:r>
            <a:r>
              <a:rPr lang="es-ES" sz="1600" dirty="0" err="1" smtClean="0">
                <a:latin typeface="Gisha" panose="020B0502040204020203" pitchFamily="34" charset="-79"/>
                <a:cs typeface="Gisha" panose="020B0502040204020203" pitchFamily="34" charset="-79"/>
              </a:rPr>
              <a:t>stylus</a:t>
            </a:r>
            <a:r>
              <a:rPr lang="es-ES" sz="1600" dirty="0" smtClean="0">
                <a:latin typeface="Gisha" panose="020B0502040204020203" pitchFamily="34" charset="-79"/>
                <a:cs typeface="Gisha" panose="020B0502040204020203" pitchFamily="34" charset="-79"/>
              </a:rPr>
              <a:t>) que se utiliza para tocar la pantalla.</a:t>
            </a:r>
            <a:br>
              <a:rPr lang="es-ES" sz="1600" dirty="0" smtClean="0">
                <a:latin typeface="Gisha" panose="020B0502040204020203" pitchFamily="34" charset="-79"/>
                <a:cs typeface="Gisha" panose="020B0502040204020203" pitchFamily="34" charset="-79"/>
              </a:rPr>
            </a:br>
            <a:r>
              <a:rPr lang="es-ES" sz="1600" dirty="0" smtClean="0">
                <a:latin typeface="Gisha" panose="020B0502040204020203" pitchFamily="34" charset="-79"/>
                <a:cs typeface="Gisha" panose="020B0502040204020203" pitchFamily="34" charset="-79"/>
              </a:rPr>
              <a:t>Muchas </a:t>
            </a:r>
            <a:r>
              <a:rPr lang="es-ES" sz="1600" dirty="0" err="1" smtClean="0">
                <a:latin typeface="Gisha" panose="020B0502040204020203" pitchFamily="34" charset="-79"/>
                <a:cs typeface="Gisha" panose="020B0502040204020203" pitchFamily="34" charset="-79"/>
              </a:rPr>
              <a:t>tablets</a:t>
            </a:r>
            <a:r>
              <a:rPr lang="es-ES" sz="1600" dirty="0" smtClean="0">
                <a:latin typeface="Gisha" panose="020B0502040204020203" pitchFamily="34" charset="-79"/>
                <a:cs typeface="Gisha" panose="020B0502040204020203" pitchFamily="34" charset="-79"/>
              </a:rPr>
              <a:t> poseen micrófono y software que acepta la entrada de voz.</a:t>
            </a:r>
          </a:p>
          <a:p>
            <a:pPr marL="36576" indent="0">
              <a:buNone/>
            </a:pPr>
            <a:endParaRPr lang="es-ES" sz="1600" dirty="0" smtClean="0">
              <a:latin typeface="Gisha" panose="020B0502040204020203" pitchFamily="34" charset="-79"/>
              <a:cs typeface="Gisha" panose="020B0502040204020203" pitchFamily="34" charset="-79"/>
            </a:endParaRPr>
          </a:p>
          <a:p>
            <a:pPr marL="36576" indent="0">
              <a:buNone/>
            </a:pPr>
            <a:r>
              <a:rPr lang="es-ES" sz="2000" dirty="0">
                <a:solidFill>
                  <a:srgbClr val="00B0F0"/>
                </a:solidFill>
                <a:latin typeface="Gisha" panose="020B0502040204020203" pitchFamily="34" charset="-79"/>
                <a:cs typeface="Gisha" panose="020B0502040204020203" pitchFamily="34" charset="-79"/>
              </a:rPr>
              <a:t>HANDHELD PC</a:t>
            </a:r>
            <a:r>
              <a:rPr lang="es-ES" sz="1600" dirty="0" smtClean="0">
                <a:latin typeface="Gisha" panose="020B0502040204020203" pitchFamily="34" charset="-79"/>
                <a:cs typeface="Gisha" panose="020B0502040204020203" pitchFamily="34" charset="-79"/>
              </a:rPr>
              <a:t/>
            </a:r>
            <a:br>
              <a:rPr lang="es-ES" sz="1600" dirty="0" smtClean="0">
                <a:latin typeface="Gisha" panose="020B0502040204020203" pitchFamily="34" charset="-79"/>
                <a:cs typeface="Gisha" panose="020B0502040204020203" pitchFamily="34" charset="-79"/>
              </a:rPr>
            </a:br>
            <a:r>
              <a:rPr lang="es-ES" sz="1600" dirty="0" smtClean="0">
                <a:latin typeface="Gisha" panose="020B0502040204020203" pitchFamily="34" charset="-79"/>
                <a:cs typeface="Gisha" panose="020B0502040204020203" pitchFamily="34" charset="-79"/>
              </a:rPr>
              <a:t>El PDA es un tipo popular de computadora </a:t>
            </a:r>
            <a:r>
              <a:rPr lang="es-ES" sz="1600" dirty="0" err="1" smtClean="0">
                <a:latin typeface="Gisha" panose="020B0502040204020203" pitchFamily="34" charset="-79"/>
                <a:cs typeface="Gisha" panose="020B0502040204020203" pitchFamily="34" charset="-79"/>
              </a:rPr>
              <a:t>Handheld</a:t>
            </a:r>
            <a:r>
              <a:rPr lang="es-ES" sz="1600" dirty="0" smtClean="0">
                <a:latin typeface="Gisha" panose="020B0502040204020203" pitchFamily="34" charset="-79"/>
                <a:cs typeface="Gisha" panose="020B0502040204020203" pitchFamily="34" charset="-79"/>
              </a:rPr>
              <a:t>, esta no es mas grande que una libreta de notas y normalmente se utiliza para aplicaciones especiales como tomar notas, guardar números telefónicos y direcciones, además de dar seguimiento a fechas o agendas.</a:t>
            </a:r>
            <a:br>
              <a:rPr lang="es-ES" sz="1600" dirty="0" smtClean="0">
                <a:latin typeface="Gisha" panose="020B0502040204020203" pitchFamily="34" charset="-79"/>
                <a:cs typeface="Gisha" panose="020B0502040204020203" pitchFamily="34" charset="-79"/>
              </a:rPr>
            </a:br>
            <a:r>
              <a:rPr lang="es-ES" sz="1600" dirty="0" smtClean="0">
                <a:latin typeface="Gisha" panose="020B0502040204020203" pitchFamily="34" charset="-79"/>
                <a:cs typeface="Gisha" panose="020B0502040204020203" pitchFamily="34" charset="-79"/>
              </a:rPr>
              <a:t>La mayoría de PDA cuenta con un lápiz especial que permite escribir en ella.</a:t>
            </a:r>
          </a:p>
          <a:p>
            <a:pPr marL="36576" indent="0">
              <a:buNone/>
            </a:pPr>
            <a:endParaRPr lang="es-ES" sz="1600" dirty="0" smtClean="0">
              <a:latin typeface="Gisha" panose="020B0502040204020203" pitchFamily="34" charset="-79"/>
              <a:cs typeface="Gisha" panose="020B0502040204020203" pitchFamily="34" charset="-79"/>
            </a:endParaRPr>
          </a:p>
          <a:p>
            <a:pPr marL="36576" indent="0">
              <a:buNone/>
            </a:pPr>
            <a:r>
              <a:rPr lang="es-ES" sz="2000" dirty="0">
                <a:solidFill>
                  <a:srgbClr val="00B0F0"/>
                </a:solidFill>
                <a:latin typeface="Gisha" panose="020B0502040204020203" pitchFamily="34" charset="-79"/>
                <a:cs typeface="Gisha" panose="020B0502040204020203" pitchFamily="34" charset="-79"/>
              </a:rPr>
              <a:t>TELEFONOS INTELIGENTES</a:t>
            </a:r>
            <a:r>
              <a:rPr lang="es-ES" sz="1600" dirty="0" smtClean="0">
                <a:latin typeface="Gisha" panose="020B0502040204020203" pitchFamily="34" charset="-79"/>
                <a:cs typeface="Gisha" panose="020B0502040204020203" pitchFamily="34" charset="-79"/>
              </a:rPr>
              <a:t/>
            </a:r>
            <a:br>
              <a:rPr lang="es-ES" sz="1600" dirty="0" smtClean="0">
                <a:latin typeface="Gisha" panose="020B0502040204020203" pitchFamily="34" charset="-79"/>
                <a:cs typeface="Gisha" panose="020B0502040204020203" pitchFamily="34" charset="-79"/>
              </a:rPr>
            </a:br>
            <a:r>
              <a:rPr lang="es-ES" sz="1600" dirty="0" smtClean="0">
                <a:latin typeface="Gisha" panose="020B0502040204020203" pitchFamily="34" charset="-79"/>
                <a:cs typeface="Gisha" panose="020B0502040204020203" pitchFamily="34" charset="-79"/>
              </a:rPr>
              <a:t>Algunos </a:t>
            </a:r>
            <a:r>
              <a:rPr lang="es-ES" sz="1600" dirty="0" smtClean="0">
                <a:latin typeface="Gisha" panose="020B0502040204020203" pitchFamily="34" charset="-79"/>
                <a:cs typeface="Gisha" panose="020B0502040204020203" pitchFamily="34" charset="-79"/>
              </a:rPr>
              <a:t>teléfonos </a:t>
            </a:r>
            <a:r>
              <a:rPr lang="es-ES" sz="1600" dirty="0" smtClean="0">
                <a:latin typeface="Gisha" panose="020B0502040204020203" pitchFamily="34" charset="-79"/>
                <a:cs typeface="Gisha" panose="020B0502040204020203" pitchFamily="34" charset="-79"/>
              </a:rPr>
              <a:t>celulares se desempeñan como computadora PC miniatura, a estos tipos de </a:t>
            </a:r>
            <a:r>
              <a:rPr lang="es-ES" sz="1600" dirty="0" smtClean="0">
                <a:latin typeface="Gisha" panose="020B0502040204020203" pitchFamily="34" charset="-79"/>
                <a:cs typeface="Gisha" panose="020B0502040204020203" pitchFamily="34" charset="-79"/>
              </a:rPr>
              <a:t>teléfono </a:t>
            </a:r>
            <a:r>
              <a:rPr lang="es-ES" sz="1600" dirty="0" smtClean="0">
                <a:latin typeface="Gisha" panose="020B0502040204020203" pitchFamily="34" charset="-79"/>
                <a:cs typeface="Gisha" panose="020B0502040204020203" pitchFamily="34" charset="-79"/>
              </a:rPr>
              <a:t>se les conoce como </a:t>
            </a:r>
            <a:r>
              <a:rPr lang="es-ES" sz="1600" dirty="0" smtClean="0">
                <a:latin typeface="Gisha" panose="020B0502040204020203" pitchFamily="34" charset="-79"/>
                <a:cs typeface="Gisha" panose="020B0502040204020203" pitchFamily="34" charset="-79"/>
              </a:rPr>
              <a:t>“teléfono </a:t>
            </a:r>
            <a:r>
              <a:rPr lang="es-ES" sz="1600" dirty="0" smtClean="0">
                <a:latin typeface="Gisha" panose="020B0502040204020203" pitchFamily="34" charset="-79"/>
                <a:cs typeface="Gisha" panose="020B0502040204020203" pitchFamily="34" charset="-79"/>
              </a:rPr>
              <a:t>inteligente”.</a:t>
            </a:r>
            <a:br>
              <a:rPr lang="es-ES" sz="1600" dirty="0" smtClean="0">
                <a:latin typeface="Gisha" panose="020B0502040204020203" pitchFamily="34" charset="-79"/>
                <a:cs typeface="Gisha" panose="020B0502040204020203" pitchFamily="34" charset="-79"/>
              </a:rPr>
            </a:br>
            <a:r>
              <a:rPr lang="es-ES" sz="1600" dirty="0" smtClean="0">
                <a:latin typeface="Gisha" panose="020B0502040204020203" pitchFamily="34" charset="-79"/>
                <a:cs typeface="Gisha" panose="020B0502040204020203" pitchFamily="34" charset="-79"/>
              </a:rPr>
              <a:t>Sus funciones incluyen acceso a la web y correo </a:t>
            </a:r>
            <a:r>
              <a:rPr lang="es-ES" sz="1600" dirty="0" smtClean="0">
                <a:latin typeface="Gisha" panose="020B0502040204020203" pitchFamily="34" charset="-79"/>
                <a:cs typeface="Gisha" panose="020B0502040204020203" pitchFamily="34" charset="-79"/>
              </a:rPr>
              <a:t>electrónico, </a:t>
            </a:r>
            <a:r>
              <a:rPr lang="es-ES" sz="1600" dirty="0" smtClean="0">
                <a:latin typeface="Gisha" panose="020B0502040204020203" pitchFamily="34" charset="-79"/>
                <a:cs typeface="Gisha" panose="020B0502040204020203" pitchFamily="34" charset="-79"/>
              </a:rPr>
              <a:t>software especial de agendas y hardware especial como </a:t>
            </a:r>
            <a:r>
              <a:rPr lang="es-ES" sz="1600" dirty="0" smtClean="0">
                <a:latin typeface="Gisha" panose="020B0502040204020203" pitchFamily="34" charset="-79"/>
                <a:cs typeface="Gisha" panose="020B0502040204020203" pitchFamily="34" charset="-79"/>
              </a:rPr>
              <a:t>cámaras, </a:t>
            </a:r>
            <a:r>
              <a:rPr lang="es-ES" sz="1600" dirty="0" smtClean="0">
                <a:latin typeface="Gisha" panose="020B0502040204020203" pitchFamily="34" charset="-79"/>
                <a:cs typeface="Gisha" panose="020B0502040204020203" pitchFamily="34" charset="-79"/>
              </a:rPr>
              <a:t>reproductores de audio, entre otras mas.</a:t>
            </a:r>
            <a:endParaRPr lang="es-ES" sz="1600" dirty="0"/>
          </a:p>
        </p:txBody>
      </p:sp>
      <p:sp>
        <p:nvSpPr>
          <p:cNvPr id="45058" name="AutoShape 2" descr="Resultado de imagen para table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sp>
        <p:nvSpPr>
          <p:cNvPr id="45060" name="AutoShape 4" descr="Resultado de imagen para table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45062" name="Picture 6" descr="Resultado de imagen para tablet"/>
          <p:cNvPicPr>
            <a:picLocks noChangeAspect="1" noChangeArrowheads="1"/>
          </p:cNvPicPr>
          <p:nvPr/>
        </p:nvPicPr>
        <p:blipFill>
          <a:blip r:embed="rId2" cstate="print"/>
          <a:srcRect/>
          <a:stretch>
            <a:fillRect/>
          </a:stretch>
        </p:blipFill>
        <p:spPr bwMode="auto">
          <a:xfrm>
            <a:off x="6372200" y="332656"/>
            <a:ext cx="2304256" cy="1861840"/>
          </a:xfrm>
          <a:prstGeom prst="rect">
            <a:avLst/>
          </a:prstGeom>
          <a:noFill/>
        </p:spPr>
      </p:pic>
      <p:sp>
        <p:nvSpPr>
          <p:cNvPr id="45064" name="AutoShape 8" descr="Resultado de imagen para handheld p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sp>
        <p:nvSpPr>
          <p:cNvPr id="45066" name="AutoShape 10" descr="Resultado de imagen para handheld p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45068" name="Picture 12" descr="http://mla-s2-p.mlstatic.com/palm-treo-650-handheld-pc-c-bluetooth-mp3-word-y-excel-13663-MLA54398956_6385-O.jpg"/>
          <p:cNvPicPr>
            <a:picLocks noChangeAspect="1" noChangeArrowheads="1"/>
          </p:cNvPicPr>
          <p:nvPr/>
        </p:nvPicPr>
        <p:blipFill>
          <a:blip r:embed="rId3" cstate="print"/>
          <a:srcRect/>
          <a:stretch>
            <a:fillRect/>
          </a:stretch>
        </p:blipFill>
        <p:spPr bwMode="auto">
          <a:xfrm>
            <a:off x="6372200" y="2420888"/>
            <a:ext cx="2202244" cy="2016224"/>
          </a:xfrm>
          <a:prstGeom prst="rect">
            <a:avLst/>
          </a:prstGeom>
          <a:noFill/>
        </p:spPr>
      </p:pic>
      <p:pic>
        <p:nvPicPr>
          <p:cNvPr id="45070" name="Picture 14" descr="http://elhorizonte.mx/foto/520000/523625_telefonos_inteligentes_2.jpg"/>
          <p:cNvPicPr>
            <a:picLocks noChangeAspect="1" noChangeArrowheads="1"/>
          </p:cNvPicPr>
          <p:nvPr/>
        </p:nvPicPr>
        <p:blipFill>
          <a:blip r:embed="rId4" cstate="print"/>
          <a:srcRect/>
          <a:stretch>
            <a:fillRect/>
          </a:stretch>
        </p:blipFill>
        <p:spPr bwMode="auto">
          <a:xfrm>
            <a:off x="6228184" y="4941168"/>
            <a:ext cx="2556792" cy="1441468"/>
          </a:xfrm>
          <a:prstGeom prst="rect">
            <a:avLst/>
          </a:prstGeom>
          <a:noFill/>
        </p:spPr>
      </p:pic>
    </p:spTree>
    <p:extLst>
      <p:ext uri="{BB962C8B-B14F-4D97-AF65-F5344CB8AC3E}">
        <p14:creationId xmlns:p14="http://schemas.microsoft.com/office/powerpoint/2010/main" val="19198263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pPr algn="ctr"/>
            <a:r>
              <a:rPr lang="es-ES" sz="3600" dirty="0">
                <a:solidFill>
                  <a:srgbClr val="C00000"/>
                </a:solidFill>
                <a:latin typeface="Constantia" panose="02030602050306030303" pitchFamily="18" charset="0"/>
              </a:rPr>
              <a:t>COMPUTADORAS PARA ORGANIZACIONES</a:t>
            </a:r>
            <a:endParaRPr lang="es-ES" sz="3600" dirty="0">
              <a:solidFill>
                <a:srgbClr val="C00000"/>
              </a:solidFill>
              <a:latin typeface="Constantia" panose="02030602050306030303" pitchFamily="18" charset="0"/>
            </a:endParaRPr>
          </a:p>
        </p:txBody>
      </p:sp>
      <p:sp>
        <p:nvSpPr>
          <p:cNvPr id="3" name="2 Marcador de contenido"/>
          <p:cNvSpPr>
            <a:spLocks noGrp="1"/>
          </p:cNvSpPr>
          <p:nvPr>
            <p:ph idx="1"/>
          </p:nvPr>
        </p:nvSpPr>
        <p:spPr/>
        <p:txBody>
          <a:bodyPr>
            <a:normAutofit/>
          </a:bodyPr>
          <a:lstStyle/>
          <a:p>
            <a:pPr marL="36576" indent="0" algn="just">
              <a:buNone/>
            </a:pPr>
            <a:r>
              <a:rPr lang="es-ES" sz="2800" dirty="0" smtClean="0">
                <a:latin typeface="Gisha" panose="020B0502040204020203" pitchFamily="34" charset="-79"/>
                <a:cs typeface="Gisha" panose="020B0502040204020203" pitchFamily="34" charset="-79"/>
              </a:rPr>
              <a:t>Algunas computadoras atienden las necesidades de muchos usuarios al mismo tiempo. Estos sistemas se utilizan mas en escuelas y empresas, y suelen estar en el centro de una red de organización.</a:t>
            </a:r>
            <a:br>
              <a:rPr lang="es-ES" sz="2800" dirty="0" smtClean="0">
                <a:latin typeface="Gisha" panose="020B0502040204020203" pitchFamily="34" charset="-79"/>
                <a:cs typeface="Gisha" panose="020B0502040204020203" pitchFamily="34" charset="-79"/>
              </a:rPr>
            </a:br>
            <a:r>
              <a:rPr lang="es-ES" sz="2800" dirty="0" smtClean="0">
                <a:latin typeface="Gisha" panose="020B0502040204020203" pitchFamily="34" charset="-79"/>
                <a:cs typeface="Gisha" panose="020B0502040204020203" pitchFamily="34" charset="-79"/>
              </a:rPr>
              <a:t>Cada usuario interactúa en la computadora con su propio dispositivo lo cual le evita esperar su turno en un solo teclado y monitor.</a:t>
            </a:r>
          </a:p>
          <a:p>
            <a:pPr marL="36576" indent="0" algn="just">
              <a:buNone/>
            </a:pPr>
            <a:r>
              <a:rPr lang="es-ES" sz="2800" dirty="0" smtClean="0">
                <a:latin typeface="Gisha" panose="020B0502040204020203" pitchFamily="34" charset="-79"/>
                <a:cs typeface="Gisha" panose="020B0502040204020203" pitchFamily="34" charset="-79"/>
              </a:rPr>
              <a:t>Entre las principales computadoras organizacionales tenemos:</a:t>
            </a:r>
          </a:p>
          <a:p>
            <a:pPr marL="36576" indent="0">
              <a:buNone/>
            </a:pPr>
            <a:endParaRPr lang="es-ES" sz="1500" dirty="0" smtClean="0">
              <a:latin typeface="Gisha" panose="020B0502040204020203" pitchFamily="34" charset="-79"/>
              <a:cs typeface="Gisha" panose="020B0502040204020203" pitchFamily="34" charset="-79"/>
            </a:endParaRPr>
          </a:p>
        </p:txBody>
      </p:sp>
    </p:spTree>
    <p:extLst>
      <p:ext uri="{BB962C8B-B14F-4D97-AF65-F5344CB8AC3E}">
        <p14:creationId xmlns:p14="http://schemas.microsoft.com/office/powerpoint/2010/main" val="42641447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404664"/>
            <a:ext cx="7467600" cy="5721499"/>
          </a:xfrm>
        </p:spPr>
        <p:txBody>
          <a:bodyPr>
            <a:normAutofit fontScale="55000" lnSpcReduction="20000"/>
          </a:bodyPr>
          <a:lstStyle/>
          <a:p>
            <a:pPr marL="36576" indent="0">
              <a:buNone/>
            </a:pPr>
            <a:endParaRPr lang="es-ES" sz="3200" dirty="0" smtClean="0">
              <a:latin typeface="Gisha" panose="020B0502040204020203" pitchFamily="34" charset="-79"/>
              <a:cs typeface="Gisha" panose="020B0502040204020203" pitchFamily="34" charset="-79"/>
            </a:endParaRPr>
          </a:p>
          <a:p>
            <a:pPr marL="36576" indent="0">
              <a:buNone/>
            </a:pPr>
            <a:r>
              <a:rPr lang="es-ES" sz="3600" dirty="0">
                <a:solidFill>
                  <a:srgbClr val="00B0F0"/>
                </a:solidFill>
                <a:latin typeface="Gisha" panose="020B0502040204020203" pitchFamily="34" charset="-79"/>
                <a:cs typeface="Gisha" panose="020B0502040204020203" pitchFamily="34" charset="-79"/>
              </a:rPr>
              <a:t>SERVIDORES DE RED</a:t>
            </a:r>
            <a:r>
              <a:rPr lang="es-ES" sz="3200" dirty="0" smtClean="0">
                <a:latin typeface="Gisha" panose="020B0502040204020203" pitchFamily="34" charset="-79"/>
                <a:cs typeface="Gisha" panose="020B0502040204020203" pitchFamily="34" charset="-79"/>
              </a:rPr>
              <a:t/>
            </a:r>
            <a:br>
              <a:rPr lang="es-ES" sz="3200" dirty="0" smtClean="0">
                <a:latin typeface="Gisha" panose="020B0502040204020203" pitchFamily="34" charset="-79"/>
                <a:cs typeface="Gisha" panose="020B0502040204020203" pitchFamily="34" charset="-79"/>
              </a:rPr>
            </a:br>
            <a:r>
              <a:rPr lang="es-ES" sz="3200" dirty="0" smtClean="0">
                <a:latin typeface="Gisha" panose="020B0502040204020203" pitchFamily="34" charset="-79"/>
                <a:cs typeface="Gisha" panose="020B0502040204020203" pitchFamily="34" charset="-79"/>
              </a:rPr>
              <a:t>Un servidor de red es una computadora personal poderosa con software y equipo especial que le permite funcionar como la computadora principal de la red. En estas redes grandes distintos grupos( o granjas de servidores) pueden tener propósitos diferentes , como proporcionar soporte a un conjunto especifico de usuarios, controlar tarea de impresión, y otras cosas.</a:t>
            </a:r>
          </a:p>
          <a:p>
            <a:pPr marL="36576" indent="0">
              <a:buNone/>
            </a:pPr>
            <a:endParaRPr lang="es-ES" sz="3200" dirty="0" smtClean="0">
              <a:latin typeface="Gisha" panose="020B0502040204020203" pitchFamily="34" charset="-79"/>
              <a:cs typeface="Gisha" panose="020B0502040204020203" pitchFamily="34" charset="-79"/>
            </a:endParaRPr>
          </a:p>
          <a:p>
            <a:pPr marL="36576" indent="0">
              <a:buNone/>
            </a:pPr>
            <a:r>
              <a:rPr lang="es-ES" sz="3600" dirty="0">
                <a:solidFill>
                  <a:srgbClr val="00B0F0"/>
                </a:solidFill>
                <a:latin typeface="Gisha" panose="020B0502040204020203" pitchFamily="34" charset="-79"/>
                <a:cs typeface="Gisha" panose="020B0502040204020203" pitchFamily="34" charset="-79"/>
              </a:rPr>
              <a:t>COMPUTADORAS MAINFRAME</a:t>
            </a:r>
          </a:p>
          <a:p>
            <a:pPr marL="36576" indent="0">
              <a:buNone/>
            </a:pPr>
            <a:r>
              <a:rPr lang="es-ES" sz="3200" dirty="0" smtClean="0">
                <a:latin typeface="Gisha" panose="020B0502040204020203" pitchFamily="34" charset="-79"/>
                <a:cs typeface="Gisha" panose="020B0502040204020203" pitchFamily="34" charset="-79"/>
              </a:rPr>
              <a:t>Las computadoras mainframe se utilizan en organizaciones grandes como compañías de seguros y bancos en donde con frecuencia muchas personas utilizan muchos datos.</a:t>
            </a:r>
          </a:p>
          <a:p>
            <a:pPr marL="36576" indent="0">
              <a:buNone/>
            </a:pPr>
            <a:endParaRPr lang="es-ES" sz="3200" dirty="0" smtClean="0">
              <a:latin typeface="Gisha" panose="020B0502040204020203" pitchFamily="34" charset="-79"/>
              <a:cs typeface="Gisha" panose="020B0502040204020203" pitchFamily="34" charset="-79"/>
            </a:endParaRPr>
          </a:p>
          <a:p>
            <a:pPr marL="36576" indent="0">
              <a:buNone/>
            </a:pPr>
            <a:r>
              <a:rPr lang="es-ES" sz="3600" dirty="0">
                <a:solidFill>
                  <a:srgbClr val="00B0F0"/>
                </a:solidFill>
                <a:latin typeface="Gisha" panose="020B0502040204020203" pitchFamily="34" charset="-79"/>
                <a:cs typeface="Gisha" panose="020B0502040204020203" pitchFamily="34" charset="-79"/>
              </a:rPr>
              <a:t>MINICOMPUTADORAS</a:t>
            </a:r>
            <a:br>
              <a:rPr lang="es-ES" sz="3600" dirty="0">
                <a:solidFill>
                  <a:srgbClr val="00B0F0"/>
                </a:solidFill>
                <a:latin typeface="Gisha" panose="020B0502040204020203" pitchFamily="34" charset="-79"/>
                <a:cs typeface="Gisha" panose="020B0502040204020203" pitchFamily="34" charset="-79"/>
              </a:rPr>
            </a:br>
            <a:r>
              <a:rPr lang="es-ES" sz="3300" dirty="0">
                <a:latin typeface="Gisha" panose="020B0502040204020203" pitchFamily="34" charset="-79"/>
                <a:cs typeface="Gisha" panose="020B0502040204020203" pitchFamily="34" charset="-79"/>
              </a:rPr>
              <a:t>Pu</a:t>
            </a:r>
            <a:r>
              <a:rPr lang="es-ES" sz="3300" dirty="0">
                <a:latin typeface="Gisha" panose="020B0502040204020203" pitchFamily="34" charset="-79"/>
                <a:cs typeface="Gisha" panose="020B0502040204020203" pitchFamily="34" charset="-79"/>
              </a:rPr>
              <a:t>eden controlar muchos mas datos de entrada y de salida que las computadoras personales</a:t>
            </a:r>
            <a:br>
              <a:rPr lang="es-ES" sz="3300" dirty="0">
                <a:latin typeface="Gisha" panose="020B0502040204020203" pitchFamily="34" charset="-79"/>
                <a:cs typeface="Gisha" panose="020B0502040204020203" pitchFamily="34" charset="-79"/>
              </a:rPr>
            </a:br>
            <a:r>
              <a:rPr lang="es-ES" sz="3300" dirty="0">
                <a:latin typeface="Gisha" panose="020B0502040204020203" pitchFamily="34" charset="-79"/>
                <a:cs typeface="Gisha" panose="020B0502040204020203" pitchFamily="34" charset="-79"/>
              </a:rPr>
              <a:t>No confundir con microcomputadoras que es otro nombre que se le da a las computadoras </a:t>
            </a:r>
            <a:r>
              <a:rPr lang="es-ES" sz="3200" dirty="0" smtClean="0">
                <a:latin typeface="Gisha" panose="020B0502040204020203" pitchFamily="34" charset="-79"/>
                <a:cs typeface="Gisha" panose="020B0502040204020203" pitchFamily="34" charset="-79"/>
              </a:rPr>
              <a:t>personales.</a:t>
            </a:r>
          </a:p>
          <a:p>
            <a:pPr marL="36576" indent="0">
              <a:buNone/>
            </a:pPr>
            <a:endParaRPr lang="es-ES" sz="3200" dirty="0" smtClean="0">
              <a:latin typeface="Gisha" panose="020B0502040204020203" pitchFamily="34" charset="-79"/>
              <a:cs typeface="Gisha" panose="020B0502040204020203" pitchFamily="34" charset="-79"/>
            </a:endParaRPr>
          </a:p>
          <a:p>
            <a:pPr marL="36576" indent="0">
              <a:buNone/>
            </a:pPr>
            <a:r>
              <a:rPr lang="es-ES" sz="3600" dirty="0">
                <a:solidFill>
                  <a:srgbClr val="00B0F0"/>
                </a:solidFill>
                <a:latin typeface="Gisha" panose="020B0502040204020203" pitchFamily="34" charset="-79"/>
                <a:cs typeface="Gisha" panose="020B0502040204020203" pitchFamily="34" charset="-79"/>
              </a:rPr>
              <a:t>SUPERCOMPUTADORAS</a:t>
            </a:r>
            <a:r>
              <a:rPr lang="es-ES" sz="3200" dirty="0" smtClean="0">
                <a:latin typeface="Gisha" panose="020B0502040204020203" pitchFamily="34" charset="-79"/>
                <a:cs typeface="Gisha" panose="020B0502040204020203" pitchFamily="34" charset="-79"/>
              </a:rPr>
              <a:t/>
            </a:r>
            <a:br>
              <a:rPr lang="es-ES" sz="3200" dirty="0" smtClean="0">
                <a:latin typeface="Gisha" panose="020B0502040204020203" pitchFamily="34" charset="-79"/>
                <a:cs typeface="Gisha" panose="020B0502040204020203" pitchFamily="34" charset="-79"/>
              </a:rPr>
            </a:br>
            <a:r>
              <a:rPr lang="es-ES" sz="3200" dirty="0" smtClean="0">
                <a:latin typeface="Gisha" panose="020B0502040204020203" pitchFamily="34" charset="-79"/>
                <a:cs typeface="Gisha" panose="020B0502040204020203" pitchFamily="34" charset="-79"/>
              </a:rPr>
              <a:t>Estos sistemas pueden procesar enormes cantidades de datos y los mas </a:t>
            </a:r>
            <a:r>
              <a:rPr lang="es-ES" sz="3200" dirty="0" err="1" smtClean="0">
                <a:latin typeface="Gisha" panose="020B0502040204020203" pitchFamily="34" charset="-79"/>
                <a:cs typeface="Gisha" panose="020B0502040204020203" pitchFamily="34" charset="-79"/>
              </a:rPr>
              <a:t>apido</a:t>
            </a:r>
            <a:r>
              <a:rPr lang="es-ES" sz="3200" dirty="0" smtClean="0">
                <a:latin typeface="Gisha" panose="020B0502040204020203" pitchFamily="34" charset="-79"/>
                <a:cs typeface="Gisha" panose="020B0502040204020203" pitchFamily="34" charset="-79"/>
              </a:rPr>
              <a:t> pueden realizar mas de un </a:t>
            </a:r>
            <a:r>
              <a:rPr lang="es-ES" sz="3200" dirty="0" err="1" smtClean="0">
                <a:latin typeface="Gisha" panose="020B0502040204020203" pitchFamily="34" charset="-79"/>
                <a:cs typeface="Gisha" panose="020B0502040204020203" pitchFamily="34" charset="-79"/>
              </a:rPr>
              <a:t>billon</a:t>
            </a:r>
            <a:r>
              <a:rPr lang="es-ES" sz="3200" dirty="0" smtClean="0">
                <a:latin typeface="Gisha" panose="020B0502040204020203" pitchFamily="34" charset="-79"/>
                <a:cs typeface="Gisha" panose="020B0502040204020203" pitchFamily="34" charset="-79"/>
              </a:rPr>
              <a:t> de </a:t>
            </a:r>
            <a:r>
              <a:rPr lang="es-ES" sz="3200" dirty="0" err="1" smtClean="0">
                <a:latin typeface="Gisha" panose="020B0502040204020203" pitchFamily="34" charset="-79"/>
                <a:cs typeface="Gisha" panose="020B0502040204020203" pitchFamily="34" charset="-79"/>
              </a:rPr>
              <a:t>calculos</a:t>
            </a:r>
            <a:r>
              <a:rPr lang="es-ES" sz="3200" dirty="0" smtClean="0">
                <a:latin typeface="Gisha" panose="020B0502040204020203" pitchFamily="34" charset="-79"/>
                <a:cs typeface="Gisha" panose="020B0502040204020203" pitchFamily="34" charset="-79"/>
              </a:rPr>
              <a:t> por segundo.</a:t>
            </a:r>
          </a:p>
          <a:p>
            <a:endParaRPr lang="es-ES" dirty="0"/>
          </a:p>
        </p:txBody>
      </p:sp>
    </p:spTree>
    <p:extLst>
      <p:ext uri="{BB962C8B-B14F-4D97-AF65-F5344CB8AC3E}">
        <p14:creationId xmlns:p14="http://schemas.microsoft.com/office/powerpoint/2010/main" val="41862467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500034" y="1285860"/>
            <a:ext cx="7786742" cy="428628"/>
          </a:xfrm>
        </p:spPr>
        <p:txBody>
          <a:bodyPr>
            <a:noAutofit/>
          </a:bodyPr>
          <a:lstStyle/>
          <a:p>
            <a:pPr algn="ctr"/>
            <a:r>
              <a:rPr lang="es-PE" sz="3600" dirty="0">
                <a:solidFill>
                  <a:srgbClr val="C00000"/>
                </a:solidFill>
                <a:latin typeface="Constantia" panose="02030602050306030303" pitchFamily="18" charset="0"/>
                <a:ea typeface="+mj-ea"/>
                <a:cs typeface="+mj-cs"/>
              </a:rPr>
              <a:t>PARTES DE UN SISTEMA DE CÓMPUTO  </a:t>
            </a:r>
            <a:endParaRPr lang="es-PE" sz="3600" dirty="0">
              <a:solidFill>
                <a:srgbClr val="C00000"/>
              </a:solidFill>
              <a:latin typeface="Constantia" panose="02030602050306030303" pitchFamily="18" charset="0"/>
              <a:ea typeface="+mj-ea"/>
              <a:cs typeface="+mj-cs"/>
            </a:endParaRPr>
          </a:p>
        </p:txBody>
      </p:sp>
      <p:pic>
        <p:nvPicPr>
          <p:cNvPr id="4" name="3 Imagen" descr="hardaware.png"/>
          <p:cNvPicPr>
            <a:picLocks noChangeAspect="1"/>
          </p:cNvPicPr>
          <p:nvPr/>
        </p:nvPicPr>
        <p:blipFill>
          <a:blip r:embed="rId2" cstate="print"/>
          <a:stretch>
            <a:fillRect/>
          </a:stretch>
        </p:blipFill>
        <p:spPr>
          <a:xfrm>
            <a:off x="5004048" y="2261486"/>
            <a:ext cx="3663452" cy="3096343"/>
          </a:xfrm>
          <a:prstGeom prst="rect">
            <a:avLst/>
          </a:prstGeom>
          <a:ln>
            <a:noFill/>
          </a:ln>
          <a:effectLst>
            <a:outerShdw blurRad="292100" dist="139700" dir="2700000" algn="tl" rotWithShape="0">
              <a:srgbClr val="333333">
                <a:alpha val="65000"/>
              </a:srgbClr>
            </a:outerShdw>
          </a:effectLst>
        </p:spPr>
      </p:pic>
      <p:sp>
        <p:nvSpPr>
          <p:cNvPr id="6" name="5 CuadroTexto"/>
          <p:cNvSpPr txBox="1"/>
          <p:nvPr/>
        </p:nvSpPr>
        <p:spPr>
          <a:xfrm>
            <a:off x="467544" y="1916832"/>
            <a:ext cx="4248472" cy="3785652"/>
          </a:xfrm>
          <a:prstGeom prst="rect">
            <a:avLst/>
          </a:prstGeom>
          <a:noFill/>
        </p:spPr>
        <p:txBody>
          <a:bodyPr wrap="square" rtlCol="0">
            <a:spAutoFit/>
          </a:bodyPr>
          <a:lstStyle/>
          <a:p>
            <a:r>
              <a:rPr lang="es-PE" sz="1500" dirty="0">
                <a:latin typeface="Gisha" panose="020B0502040204020203" pitchFamily="34" charset="-79"/>
                <a:cs typeface="Gisha" panose="020B0502040204020203" pitchFamily="34" charset="-79"/>
              </a:rPr>
              <a:t>Un sistema de computo completo consiste en cuatro partes:</a:t>
            </a:r>
            <a:br>
              <a:rPr lang="es-PE" sz="1500" dirty="0">
                <a:latin typeface="Gisha" panose="020B0502040204020203" pitchFamily="34" charset="-79"/>
                <a:cs typeface="Gisha" panose="020B0502040204020203" pitchFamily="34" charset="-79"/>
              </a:rPr>
            </a:br>
            <a:r>
              <a:rPr lang="es-PE" sz="1500" dirty="0">
                <a:latin typeface="Gisha" panose="020B0502040204020203" pitchFamily="34" charset="-79"/>
                <a:cs typeface="Gisha" panose="020B0502040204020203" pitchFamily="34" charset="-79"/>
              </a:rPr>
              <a:t>  </a:t>
            </a:r>
            <a:br>
              <a:rPr lang="es-PE" sz="1500" dirty="0">
                <a:latin typeface="Gisha" panose="020B0502040204020203" pitchFamily="34" charset="-79"/>
                <a:cs typeface="Gisha" panose="020B0502040204020203" pitchFamily="34" charset="-79"/>
              </a:rPr>
            </a:br>
            <a:r>
              <a:rPr lang="es-PE" sz="1500" dirty="0" smtClean="0">
                <a:solidFill>
                  <a:schemeClr val="accent2">
                    <a:lumMod val="60000"/>
                    <a:lumOff val="40000"/>
                  </a:schemeClr>
                </a:solidFill>
                <a:latin typeface="Gisha" panose="020B0502040204020203" pitchFamily="34" charset="-79"/>
                <a:cs typeface="Gisha" panose="020B0502040204020203" pitchFamily="34" charset="-79"/>
              </a:rPr>
              <a:t>Hardware</a:t>
            </a:r>
            <a:r>
              <a:rPr lang="es-PE" sz="1500" dirty="0">
                <a:solidFill>
                  <a:schemeClr val="accent2">
                    <a:lumMod val="60000"/>
                    <a:lumOff val="40000"/>
                  </a:schemeClr>
                </a:solidFill>
                <a:latin typeface="Gisha" panose="020B0502040204020203" pitchFamily="34" charset="-79"/>
                <a:cs typeface="Gisha" panose="020B0502040204020203" pitchFamily="34" charset="-79"/>
              </a:rPr>
              <a:t>: </a:t>
            </a:r>
            <a:r>
              <a:rPr lang="es-PE" sz="1500" dirty="0">
                <a:latin typeface="Gisha" panose="020B0502040204020203" pitchFamily="34" charset="-79"/>
                <a:cs typeface="Gisha" panose="020B0502040204020203" pitchFamily="34" charset="-79"/>
              </a:rPr>
              <a:t>cualquier parte de la computadora que se pueda tocar ; consiste en dispositivos electrónicos interconectados para controlar la operación </a:t>
            </a:r>
            <a:br>
              <a:rPr lang="es-PE" sz="1500" dirty="0">
                <a:latin typeface="Gisha" panose="020B0502040204020203" pitchFamily="34" charset="-79"/>
                <a:cs typeface="Gisha" panose="020B0502040204020203" pitchFamily="34" charset="-79"/>
              </a:rPr>
            </a:br>
            <a:r>
              <a:rPr lang="es-PE" sz="1500" dirty="0">
                <a:latin typeface="Gisha" panose="020B0502040204020203" pitchFamily="34" charset="-79"/>
                <a:cs typeface="Gisha" panose="020B0502040204020203" pitchFamily="34" charset="-79"/>
              </a:rPr>
              <a:t/>
            </a:r>
            <a:br>
              <a:rPr lang="es-PE" sz="1500" dirty="0">
                <a:latin typeface="Gisha" panose="020B0502040204020203" pitchFamily="34" charset="-79"/>
                <a:cs typeface="Gisha" panose="020B0502040204020203" pitchFamily="34" charset="-79"/>
              </a:rPr>
            </a:br>
            <a:r>
              <a:rPr lang="es-PE" sz="1500" dirty="0" smtClean="0">
                <a:solidFill>
                  <a:schemeClr val="accent2">
                    <a:lumMod val="60000"/>
                    <a:lumOff val="40000"/>
                  </a:schemeClr>
                </a:solidFill>
                <a:latin typeface="Gisha" panose="020B0502040204020203" pitchFamily="34" charset="-79"/>
                <a:cs typeface="Gisha" panose="020B0502040204020203" pitchFamily="34" charset="-79"/>
              </a:rPr>
              <a:t>Software</a:t>
            </a:r>
            <a:r>
              <a:rPr lang="es-PE" sz="1500" dirty="0">
                <a:solidFill>
                  <a:schemeClr val="accent2">
                    <a:lumMod val="60000"/>
                    <a:lumOff val="40000"/>
                  </a:schemeClr>
                </a:solidFill>
                <a:latin typeface="Gisha" panose="020B0502040204020203" pitchFamily="34" charset="-79"/>
                <a:cs typeface="Gisha" panose="020B0502040204020203" pitchFamily="34" charset="-79"/>
              </a:rPr>
              <a:t>: </a:t>
            </a:r>
            <a:r>
              <a:rPr lang="es-PE" sz="1500" dirty="0" smtClean="0">
                <a:latin typeface="Gisha" panose="020B0502040204020203" pitchFamily="34" charset="-79"/>
                <a:cs typeface="Gisha" panose="020B0502040204020203" pitchFamily="34" charset="-79"/>
              </a:rPr>
              <a:t>Es un conjunto de instrucciones que hace que la computadora realice tareas , le dice a la computadora lo que tiene que hacer. </a:t>
            </a:r>
            <a:r>
              <a:rPr lang="es-PE" sz="1500" dirty="0">
                <a:latin typeface="Gisha" panose="020B0502040204020203" pitchFamily="34" charset="-79"/>
                <a:cs typeface="Gisha" panose="020B0502040204020203" pitchFamily="34" charset="-79"/>
              </a:rPr>
              <a:t/>
            </a:r>
            <a:br>
              <a:rPr lang="es-PE" sz="1500" dirty="0">
                <a:latin typeface="Gisha" panose="020B0502040204020203" pitchFamily="34" charset="-79"/>
                <a:cs typeface="Gisha" panose="020B0502040204020203" pitchFamily="34" charset="-79"/>
              </a:rPr>
            </a:br>
            <a:r>
              <a:rPr lang="es-PE" sz="1500" dirty="0">
                <a:latin typeface="Gisha" panose="020B0502040204020203" pitchFamily="34" charset="-79"/>
                <a:cs typeface="Gisha" panose="020B0502040204020203" pitchFamily="34" charset="-79"/>
              </a:rPr>
              <a:t/>
            </a:r>
            <a:br>
              <a:rPr lang="es-PE" sz="1500" dirty="0">
                <a:latin typeface="Gisha" panose="020B0502040204020203" pitchFamily="34" charset="-79"/>
                <a:cs typeface="Gisha" panose="020B0502040204020203" pitchFamily="34" charset="-79"/>
              </a:rPr>
            </a:br>
            <a:r>
              <a:rPr lang="es-PE" sz="1500" dirty="0" smtClean="0">
                <a:solidFill>
                  <a:schemeClr val="accent2">
                    <a:lumMod val="60000"/>
                    <a:lumOff val="40000"/>
                  </a:schemeClr>
                </a:solidFill>
                <a:latin typeface="Gisha" panose="020B0502040204020203" pitchFamily="34" charset="-79"/>
                <a:cs typeface="Gisha" panose="020B0502040204020203" pitchFamily="34" charset="-79"/>
              </a:rPr>
              <a:t>Datos</a:t>
            </a:r>
            <a:r>
              <a:rPr lang="es-PE" sz="1500" dirty="0">
                <a:solidFill>
                  <a:schemeClr val="accent2">
                    <a:lumMod val="60000"/>
                    <a:lumOff val="40000"/>
                  </a:schemeClr>
                </a:solidFill>
                <a:latin typeface="Gisha" panose="020B0502040204020203" pitchFamily="34" charset="-79"/>
                <a:cs typeface="Gisha" panose="020B0502040204020203" pitchFamily="34" charset="-79"/>
              </a:rPr>
              <a:t>: </a:t>
            </a:r>
            <a:r>
              <a:rPr lang="es-PE" sz="1500" dirty="0">
                <a:latin typeface="Gisha" panose="020B0502040204020203" pitchFamily="34" charset="-79"/>
                <a:cs typeface="Gisha" panose="020B0502040204020203" pitchFamily="34" charset="-79"/>
              </a:rPr>
              <a:t>P</a:t>
            </a:r>
            <a:r>
              <a:rPr lang="es-PE" sz="1500" dirty="0" smtClean="0">
                <a:latin typeface="Gisha" panose="020B0502040204020203" pitchFamily="34" charset="-79"/>
                <a:cs typeface="Gisha" panose="020B0502040204020203" pitchFamily="34" charset="-79"/>
              </a:rPr>
              <a:t>iezas individuales de información. </a:t>
            </a:r>
            <a:r>
              <a:rPr lang="es-PE" sz="1500" dirty="0">
                <a:latin typeface="Gisha" panose="020B0502040204020203" pitchFamily="34" charset="-79"/>
                <a:cs typeface="Gisha" panose="020B0502040204020203" pitchFamily="34" charset="-79"/>
              </a:rPr>
              <a:t/>
            </a:r>
            <a:br>
              <a:rPr lang="es-PE" sz="1500" dirty="0">
                <a:latin typeface="Gisha" panose="020B0502040204020203" pitchFamily="34" charset="-79"/>
                <a:cs typeface="Gisha" panose="020B0502040204020203" pitchFamily="34" charset="-79"/>
              </a:rPr>
            </a:br>
            <a:r>
              <a:rPr lang="es-PE" sz="1500" dirty="0">
                <a:latin typeface="Gisha" panose="020B0502040204020203" pitchFamily="34" charset="-79"/>
                <a:cs typeface="Gisha" panose="020B0502040204020203" pitchFamily="34" charset="-79"/>
              </a:rPr>
              <a:t/>
            </a:r>
            <a:br>
              <a:rPr lang="es-PE" sz="1500" dirty="0">
                <a:latin typeface="Gisha" panose="020B0502040204020203" pitchFamily="34" charset="-79"/>
                <a:cs typeface="Gisha" panose="020B0502040204020203" pitchFamily="34" charset="-79"/>
              </a:rPr>
            </a:br>
            <a:r>
              <a:rPr lang="es-PE" sz="1500" dirty="0" smtClean="0">
                <a:solidFill>
                  <a:schemeClr val="accent2">
                    <a:lumMod val="60000"/>
                    <a:lumOff val="40000"/>
                  </a:schemeClr>
                </a:solidFill>
                <a:latin typeface="Gisha" panose="020B0502040204020203" pitchFamily="34" charset="-79"/>
                <a:cs typeface="Gisha" panose="020B0502040204020203" pitchFamily="34" charset="-79"/>
              </a:rPr>
              <a:t>Usuario </a:t>
            </a:r>
            <a:r>
              <a:rPr lang="es-PE" sz="1500" dirty="0">
                <a:solidFill>
                  <a:schemeClr val="accent2">
                    <a:lumMod val="60000"/>
                    <a:lumOff val="40000"/>
                  </a:schemeClr>
                </a:solidFill>
                <a:latin typeface="Gisha" panose="020B0502040204020203" pitchFamily="34" charset="-79"/>
                <a:cs typeface="Gisha" panose="020B0502040204020203" pitchFamily="34" charset="-79"/>
              </a:rPr>
              <a:t>: </a:t>
            </a:r>
            <a:r>
              <a:rPr lang="es-PE" sz="1500" dirty="0">
                <a:latin typeface="Gisha" panose="020B0502040204020203" pitchFamily="34" charset="-79"/>
                <a:cs typeface="Gisha" panose="020B0502040204020203" pitchFamily="34" charset="-79"/>
              </a:rPr>
              <a:t>I</a:t>
            </a:r>
            <a:r>
              <a:rPr lang="es-PE" sz="1500" dirty="0" smtClean="0">
                <a:latin typeface="Gisha" panose="020B0502040204020203" pitchFamily="34" charset="-79"/>
                <a:cs typeface="Gisha" panose="020B0502040204020203" pitchFamily="34" charset="-79"/>
              </a:rPr>
              <a:t>ndividuo que manipula la computadora.</a:t>
            </a:r>
            <a:endParaRPr lang="es-PE" sz="1500" dirty="0"/>
          </a:p>
        </p:txBody>
      </p:sp>
    </p:spTree>
    <p:extLst>
      <p:ext uri="{BB962C8B-B14F-4D97-AF65-F5344CB8AC3E}">
        <p14:creationId xmlns:p14="http://schemas.microsoft.com/office/powerpoint/2010/main" val="3128336227"/>
      </p:ext>
    </p:extLst>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pPr algn="ctr"/>
            <a:r>
              <a:rPr lang="es-PE" sz="3600" dirty="0">
                <a:solidFill>
                  <a:srgbClr val="C00000"/>
                </a:solidFill>
                <a:latin typeface="Constantia" panose="02030602050306030303" pitchFamily="18" charset="0"/>
              </a:rPr>
              <a:t>Ciclo de procesamiento de la información</a:t>
            </a:r>
            <a:endParaRPr lang="es-PE" sz="3600" dirty="0">
              <a:solidFill>
                <a:srgbClr val="C00000"/>
              </a:solidFill>
              <a:latin typeface="Constantia" panose="02030602050306030303" pitchFamily="18" charset="0"/>
            </a:endParaRPr>
          </a:p>
        </p:txBody>
      </p:sp>
      <p:sp>
        <p:nvSpPr>
          <p:cNvPr id="3" name="2 Marcador de contenido"/>
          <p:cNvSpPr>
            <a:spLocks noGrp="1"/>
          </p:cNvSpPr>
          <p:nvPr>
            <p:ph idx="1"/>
          </p:nvPr>
        </p:nvSpPr>
        <p:spPr>
          <a:xfrm>
            <a:off x="539552" y="1556792"/>
            <a:ext cx="4320480" cy="4824536"/>
          </a:xfrm>
        </p:spPr>
        <p:txBody>
          <a:bodyPr>
            <a:normAutofit fontScale="92500" lnSpcReduction="10000"/>
          </a:bodyPr>
          <a:lstStyle/>
          <a:p>
            <a:pPr marL="36576" indent="0" algn="just">
              <a:buNone/>
            </a:pPr>
            <a:r>
              <a:rPr lang="es-PE" sz="1600" dirty="0" smtClean="0">
                <a:latin typeface="Gisha" panose="020B0502040204020203" pitchFamily="34" charset="-79"/>
                <a:cs typeface="Gisha" panose="020B0502040204020203" pitchFamily="34" charset="-79"/>
              </a:rPr>
              <a:t>La computadora convierte datos en información.</a:t>
            </a:r>
          </a:p>
          <a:p>
            <a:pPr marL="36576" indent="0" algn="just">
              <a:buNone/>
            </a:pPr>
            <a:endParaRPr lang="es-PE" sz="1600" dirty="0" smtClean="0">
              <a:latin typeface="Gisha" panose="020B0502040204020203" pitchFamily="34" charset="-79"/>
              <a:cs typeface="Gisha" panose="020B0502040204020203" pitchFamily="34" charset="-79"/>
            </a:endParaRPr>
          </a:p>
          <a:p>
            <a:pPr marL="36576" indent="0" algn="just">
              <a:buNone/>
            </a:pPr>
            <a:r>
              <a:rPr lang="es-PE" sz="1600" dirty="0" smtClean="0">
                <a:latin typeface="Gisha" panose="020B0502040204020203" pitchFamily="34" charset="-79"/>
                <a:cs typeface="Gisha" panose="020B0502040204020203" pitchFamily="34" charset="-79"/>
              </a:rPr>
              <a:t>Este ciclo consta de 4 partes:</a:t>
            </a:r>
          </a:p>
          <a:p>
            <a:pPr marL="36576" indent="0" algn="just">
              <a:buNone/>
            </a:pPr>
            <a:endParaRPr lang="es-PE" sz="1600" dirty="0" smtClean="0">
              <a:latin typeface="Gisha" panose="020B0502040204020203" pitchFamily="34" charset="-79"/>
              <a:cs typeface="Gisha" panose="020B0502040204020203" pitchFamily="34" charset="-79"/>
            </a:endParaRPr>
          </a:p>
          <a:p>
            <a:pPr marL="36576" indent="0" algn="just">
              <a:buNone/>
            </a:pPr>
            <a:r>
              <a:rPr lang="es-PE" sz="1600" dirty="0" smtClean="0">
                <a:solidFill>
                  <a:schemeClr val="accent2">
                    <a:lumMod val="60000"/>
                    <a:lumOff val="40000"/>
                  </a:schemeClr>
                </a:solidFill>
                <a:latin typeface="Gisha" panose="020B0502040204020203" pitchFamily="34" charset="-79"/>
                <a:cs typeface="Gisha" panose="020B0502040204020203" pitchFamily="34" charset="-79"/>
              </a:rPr>
              <a:t>Entrada: </a:t>
            </a:r>
            <a:r>
              <a:rPr lang="es-PE" sz="1600" dirty="0" smtClean="0">
                <a:latin typeface="Gisha" panose="020B0502040204020203" pitchFamily="34" charset="-79"/>
                <a:cs typeface="Gisha" panose="020B0502040204020203" pitchFamily="34" charset="-79"/>
              </a:rPr>
              <a:t>La computadora acepta datos que provienen de la fuente.</a:t>
            </a:r>
          </a:p>
          <a:p>
            <a:pPr marL="36576" indent="0" algn="just">
              <a:buNone/>
            </a:pPr>
            <a:endParaRPr lang="es-PE" sz="1600" dirty="0" smtClean="0">
              <a:latin typeface="Gisha" panose="020B0502040204020203" pitchFamily="34" charset="-79"/>
              <a:cs typeface="Gisha" panose="020B0502040204020203" pitchFamily="34" charset="-79"/>
            </a:endParaRPr>
          </a:p>
          <a:p>
            <a:pPr marL="36576" indent="0" algn="just">
              <a:buNone/>
            </a:pPr>
            <a:r>
              <a:rPr lang="es-PE" sz="1600" dirty="0" smtClean="0">
                <a:solidFill>
                  <a:schemeClr val="accent2">
                    <a:lumMod val="60000"/>
                    <a:lumOff val="40000"/>
                  </a:schemeClr>
                </a:solidFill>
                <a:latin typeface="Gisha" panose="020B0502040204020203" pitchFamily="34" charset="-79"/>
                <a:cs typeface="Gisha" panose="020B0502040204020203" pitchFamily="34" charset="-79"/>
              </a:rPr>
              <a:t>Procesamiento: </a:t>
            </a:r>
            <a:r>
              <a:rPr lang="es-PE" sz="1600" dirty="0" smtClean="0">
                <a:latin typeface="Gisha" panose="020B0502040204020203" pitchFamily="34" charset="-79"/>
                <a:cs typeface="Gisha" panose="020B0502040204020203" pitchFamily="34" charset="-79"/>
              </a:rPr>
              <a:t>Los componentes del procesamiento de la computadora realizan acciones con los datos basándose en la instrucciones del usuario. </a:t>
            </a:r>
          </a:p>
          <a:p>
            <a:pPr marL="36576" indent="0" algn="just">
              <a:buNone/>
            </a:pPr>
            <a:endParaRPr lang="es-PE" sz="1600" dirty="0" smtClean="0">
              <a:latin typeface="Gisha" panose="020B0502040204020203" pitchFamily="34" charset="-79"/>
              <a:cs typeface="Gisha" panose="020B0502040204020203" pitchFamily="34" charset="-79"/>
            </a:endParaRPr>
          </a:p>
          <a:p>
            <a:pPr marL="36576" indent="0" algn="just">
              <a:buNone/>
            </a:pPr>
            <a:r>
              <a:rPr lang="es-PE" sz="1600" dirty="0" smtClean="0">
                <a:solidFill>
                  <a:schemeClr val="accent2">
                    <a:lumMod val="60000"/>
                    <a:lumOff val="40000"/>
                  </a:schemeClr>
                </a:solidFill>
                <a:latin typeface="Gisha" panose="020B0502040204020203" pitchFamily="34" charset="-79"/>
                <a:cs typeface="Gisha" panose="020B0502040204020203" pitchFamily="34" charset="-79"/>
              </a:rPr>
              <a:t>Salida: </a:t>
            </a:r>
            <a:r>
              <a:rPr lang="es-PE" sz="1600" dirty="0" smtClean="0">
                <a:latin typeface="Gisha" panose="020B0502040204020203" pitchFamily="34" charset="-79"/>
                <a:cs typeface="Gisha" panose="020B0502040204020203" pitchFamily="34" charset="-79"/>
              </a:rPr>
              <a:t>En este paso es posible que la computadora necesite desplegar los resultados de su procesamiento, es opcional.</a:t>
            </a:r>
          </a:p>
          <a:p>
            <a:pPr marL="36576" indent="0" algn="just">
              <a:buNone/>
            </a:pPr>
            <a:endParaRPr lang="es-PE" sz="1600" dirty="0" smtClean="0">
              <a:latin typeface="Gisha" panose="020B0502040204020203" pitchFamily="34" charset="-79"/>
              <a:cs typeface="Gisha" panose="020B0502040204020203" pitchFamily="34" charset="-79"/>
            </a:endParaRPr>
          </a:p>
          <a:p>
            <a:pPr marL="36576" indent="0" algn="just">
              <a:buNone/>
            </a:pPr>
            <a:r>
              <a:rPr lang="es-PE" sz="1600" dirty="0" smtClean="0">
                <a:solidFill>
                  <a:schemeClr val="accent2">
                    <a:lumMod val="60000"/>
                    <a:lumOff val="40000"/>
                  </a:schemeClr>
                </a:solidFill>
                <a:latin typeface="Gisha" panose="020B0502040204020203" pitchFamily="34" charset="-79"/>
                <a:cs typeface="Gisha" panose="020B0502040204020203" pitchFamily="34" charset="-79"/>
              </a:rPr>
              <a:t>Almacenamiento: </a:t>
            </a:r>
            <a:r>
              <a:rPr lang="es-PE" sz="1600" dirty="0" smtClean="0">
                <a:latin typeface="Gisha" panose="020B0502040204020203" pitchFamily="34" charset="-79"/>
                <a:cs typeface="Gisha" panose="020B0502040204020203" pitchFamily="34" charset="-79"/>
              </a:rPr>
              <a:t>La computadora almacena permanentemente los resultados en un disco, es opcional y no siempre requiere del usuario o programa. </a:t>
            </a:r>
          </a:p>
        </p:txBody>
      </p:sp>
      <p:pic>
        <p:nvPicPr>
          <p:cNvPr id="6" name="5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6056" y="2564904"/>
            <a:ext cx="3920505" cy="2540521"/>
          </a:xfrm>
          <a:prstGeom prst="rect">
            <a:avLst/>
          </a:prstGeom>
        </p:spPr>
      </p:pic>
    </p:spTree>
    <p:extLst>
      <p:ext uri="{BB962C8B-B14F-4D97-AF65-F5344CB8AC3E}">
        <p14:creationId xmlns:p14="http://schemas.microsoft.com/office/powerpoint/2010/main" val="20229002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s-PE" sz="3600" dirty="0">
                <a:solidFill>
                  <a:srgbClr val="C00000"/>
                </a:solidFill>
                <a:latin typeface="Constantia" panose="02030602050306030303" pitchFamily="18" charset="0"/>
              </a:rPr>
              <a:t>¿QUÉ ES INTERNET?</a:t>
            </a:r>
            <a:endParaRPr lang="es-PE" sz="3600" dirty="0">
              <a:solidFill>
                <a:srgbClr val="C00000"/>
              </a:solidFill>
              <a:latin typeface="Constantia" panose="02030602050306030303" pitchFamily="18" charset="0"/>
            </a:endParaRPr>
          </a:p>
        </p:txBody>
      </p:sp>
      <p:sp>
        <p:nvSpPr>
          <p:cNvPr id="3" name="2 Marcador de contenido"/>
          <p:cNvSpPr>
            <a:spLocks noGrp="1"/>
          </p:cNvSpPr>
          <p:nvPr>
            <p:ph idx="1"/>
          </p:nvPr>
        </p:nvSpPr>
        <p:spPr>
          <a:xfrm>
            <a:off x="539552" y="1556792"/>
            <a:ext cx="7467600" cy="1440160"/>
          </a:xfrm>
        </p:spPr>
        <p:txBody>
          <a:bodyPr>
            <a:normAutofit/>
          </a:bodyPr>
          <a:lstStyle/>
          <a:p>
            <a:pPr marL="36576" indent="0" algn="just">
              <a:buNone/>
            </a:pPr>
            <a:r>
              <a:rPr lang="es-PE" sz="1600" dirty="0" smtClean="0">
                <a:latin typeface="Gisha" panose="020B0502040204020203" pitchFamily="34" charset="-79"/>
                <a:cs typeface="Gisha" panose="020B0502040204020203" pitchFamily="34" charset="-79"/>
              </a:rPr>
              <a:t>Internet es una herramienta muy útil en la actualidad ya que proporciona una gran cantidad de información a todos los usuarios que lo necesiten.  En palabras simples Internet de una red de redes gigantesca que conecta a toda computadora que tenga acceso a ella.</a:t>
            </a:r>
            <a:endParaRPr lang="es-PE" sz="1600" dirty="0">
              <a:latin typeface="Gisha" panose="020B0502040204020203" pitchFamily="34" charset="-79"/>
              <a:cs typeface="Gisha" panose="020B0502040204020203" pitchFamily="34" charset="-79"/>
            </a:endParaRPr>
          </a:p>
        </p:txBody>
      </p:sp>
      <p:pic>
        <p:nvPicPr>
          <p:cNvPr id="5" name="4 Imagen" descr="sofware2.jpg"/>
          <p:cNvPicPr>
            <a:picLocks noChangeAspect="1"/>
          </p:cNvPicPr>
          <p:nvPr/>
        </p:nvPicPr>
        <p:blipFill>
          <a:blip r:embed="rId2" cstate="print"/>
          <a:stretch>
            <a:fillRect/>
          </a:stretch>
        </p:blipFill>
        <p:spPr>
          <a:xfrm>
            <a:off x="2764392" y="3178193"/>
            <a:ext cx="3208966" cy="2161277"/>
          </a:xfrm>
          <a:prstGeom prst="roundRect">
            <a:avLst>
              <a:gd name="adj" fmla="val 8594"/>
            </a:avLst>
          </a:prstGeom>
          <a:solidFill>
            <a:srgbClr val="FFFFFF">
              <a:shade val="85000"/>
            </a:srgbClr>
          </a:solidFill>
          <a:ln w="76200">
            <a:solidFill>
              <a:schemeClr val="accent1">
                <a:lumMod val="75000"/>
              </a:schemeClr>
            </a:solidFill>
          </a:ln>
          <a:effectLst>
            <a:reflection blurRad="12700" stA="38000" endPos="28000" dist="5000" dir="5400000" sy="-100000" algn="bl" rotWithShape="0"/>
          </a:effectLst>
        </p:spPr>
      </p:pic>
    </p:spTree>
    <p:extLst>
      <p:ext uri="{BB962C8B-B14F-4D97-AF65-F5344CB8AC3E}">
        <p14:creationId xmlns:p14="http://schemas.microsoft.com/office/powerpoint/2010/main" val="41906410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s-PE" sz="3600" dirty="0">
                <a:solidFill>
                  <a:srgbClr val="C00000"/>
                </a:solidFill>
                <a:latin typeface="Constantia" panose="02030602050306030303" pitchFamily="18" charset="0"/>
              </a:rPr>
              <a:t>HISTORIA DEL INTERNET</a:t>
            </a:r>
            <a:endParaRPr lang="es-PE" sz="3600" dirty="0">
              <a:solidFill>
                <a:srgbClr val="C00000"/>
              </a:solidFill>
              <a:latin typeface="Constantia" panose="02030602050306030303" pitchFamily="18" charset="0"/>
            </a:endParaRPr>
          </a:p>
        </p:txBody>
      </p:sp>
      <p:sp>
        <p:nvSpPr>
          <p:cNvPr id="3" name="2 Marcador de contenido"/>
          <p:cNvSpPr>
            <a:spLocks noGrp="1"/>
          </p:cNvSpPr>
          <p:nvPr>
            <p:ph idx="1"/>
          </p:nvPr>
        </p:nvSpPr>
        <p:spPr>
          <a:xfrm>
            <a:off x="457200" y="1600201"/>
            <a:ext cx="7467600" cy="2188840"/>
          </a:xfrm>
        </p:spPr>
        <p:txBody>
          <a:bodyPr>
            <a:normAutofit/>
          </a:bodyPr>
          <a:lstStyle/>
          <a:p>
            <a:pPr marL="36576" indent="0" algn="just">
              <a:buNone/>
            </a:pPr>
            <a:r>
              <a:rPr lang="es-PE" sz="1600" dirty="0" smtClean="0">
                <a:latin typeface="Gisha" panose="020B0502040204020203" pitchFamily="34" charset="-79"/>
                <a:cs typeface="Gisha" panose="020B0502040204020203" pitchFamily="34" charset="-79"/>
              </a:rPr>
              <a:t>En el año 1969, el Departamento de Defensa de Estados Unidos presento la idea del ARPANet la cual era un red que conectaba universidades y empresas relacionadas con el ejercito, e iba a ser usada para comunicarse. </a:t>
            </a:r>
          </a:p>
          <a:p>
            <a:pPr marL="36576" indent="0" algn="just">
              <a:buNone/>
            </a:pPr>
            <a:r>
              <a:rPr lang="es-PE" sz="1600" dirty="0" smtClean="0">
                <a:latin typeface="Gisha" panose="020B0502040204020203" pitchFamily="34" charset="-79"/>
                <a:cs typeface="Gisha" panose="020B0502040204020203" pitchFamily="34" charset="-79"/>
              </a:rPr>
              <a:t>Luego apareció el proyecto </a:t>
            </a:r>
            <a:r>
              <a:rPr lang="es-PE" sz="1600" dirty="0" err="1" smtClean="0">
                <a:latin typeface="Gisha" panose="020B0502040204020203" pitchFamily="34" charset="-79"/>
                <a:cs typeface="Gisha" panose="020B0502040204020203" pitchFamily="34" charset="-79"/>
              </a:rPr>
              <a:t>NSFnet</a:t>
            </a:r>
            <a:r>
              <a:rPr lang="es-PE" sz="1600" dirty="0" smtClean="0">
                <a:latin typeface="Gisha" panose="020B0502040204020203" pitchFamily="34" charset="-79"/>
                <a:cs typeface="Gisha" panose="020B0502040204020203" pitchFamily="34" charset="-79"/>
              </a:rPr>
              <a:t> para complementar al anterior </a:t>
            </a:r>
            <a:r>
              <a:rPr lang="es-PE" sz="1600" dirty="0" err="1" smtClean="0">
                <a:latin typeface="Gisha" panose="020B0502040204020203" pitchFamily="34" charset="-79"/>
                <a:cs typeface="Gisha" panose="020B0502040204020203" pitchFamily="34" charset="-79"/>
              </a:rPr>
              <a:t>ARPAnet</a:t>
            </a:r>
            <a:r>
              <a:rPr lang="es-PE" sz="1600" dirty="0" smtClean="0">
                <a:latin typeface="Gisha" panose="020B0502040204020203" pitchFamily="34" charset="-79"/>
                <a:cs typeface="Gisha" panose="020B0502040204020203" pitchFamily="34" charset="-79"/>
              </a:rPr>
              <a:t> tiempo después se juntaron </a:t>
            </a:r>
            <a:r>
              <a:rPr lang="es-PE" sz="1600" dirty="0" err="1" smtClean="0">
                <a:latin typeface="Gisha" panose="020B0502040204020203" pitchFamily="34" charset="-79"/>
                <a:cs typeface="Gisha" panose="020B0502040204020203" pitchFamily="34" charset="-79"/>
              </a:rPr>
              <a:t>ARPAnet</a:t>
            </a:r>
            <a:r>
              <a:rPr lang="es-PE" sz="1600" dirty="0" smtClean="0">
                <a:latin typeface="Gisha" panose="020B0502040204020203" pitchFamily="34" charset="-79"/>
                <a:cs typeface="Gisha" panose="020B0502040204020203" pitchFamily="34" charset="-79"/>
              </a:rPr>
              <a:t> , </a:t>
            </a:r>
            <a:r>
              <a:rPr lang="es-PE" sz="1600" dirty="0" err="1" smtClean="0">
                <a:latin typeface="Gisha" panose="020B0502040204020203" pitchFamily="34" charset="-79"/>
                <a:cs typeface="Gisha" panose="020B0502040204020203" pitchFamily="34" charset="-79"/>
              </a:rPr>
              <a:t>NSFnet</a:t>
            </a:r>
            <a:r>
              <a:rPr lang="es-PE" sz="1600" dirty="0" smtClean="0">
                <a:latin typeface="Gisha" panose="020B0502040204020203" pitchFamily="34" charset="-79"/>
                <a:cs typeface="Gisha" panose="020B0502040204020203" pitchFamily="34" charset="-79"/>
              </a:rPr>
              <a:t> y otras redes dando inicio a lo que se llama ahora internet </a:t>
            </a:r>
            <a:endParaRPr lang="es-PE" sz="1600" dirty="0">
              <a:latin typeface="Gisha" panose="020B0502040204020203" pitchFamily="34" charset="-79"/>
              <a:cs typeface="Gisha" panose="020B0502040204020203" pitchFamily="34" charset="-79"/>
            </a:endParaRPr>
          </a:p>
        </p:txBody>
      </p:sp>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3501008"/>
            <a:ext cx="4464496" cy="2675158"/>
          </a:xfrm>
          <a:prstGeom prst="rect">
            <a:avLst/>
          </a:prstGeom>
        </p:spPr>
      </p:pic>
    </p:spTree>
    <p:extLst>
      <p:ext uri="{BB962C8B-B14F-4D97-AF65-F5344CB8AC3E}">
        <p14:creationId xmlns:p14="http://schemas.microsoft.com/office/powerpoint/2010/main" val="10586384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pPr algn="ctr"/>
            <a:r>
              <a:rPr lang="es-PE" sz="3600" dirty="0">
                <a:solidFill>
                  <a:srgbClr val="C00000"/>
                </a:solidFill>
                <a:latin typeface="Constantia" panose="02030602050306030303" pitchFamily="18" charset="0"/>
              </a:rPr>
              <a:t>FORMA EN QUE </a:t>
            </a:r>
            <a:r>
              <a:rPr lang="es-PE" sz="3600" dirty="0" smtClean="0">
                <a:solidFill>
                  <a:srgbClr val="C00000"/>
                </a:solidFill>
                <a:latin typeface="Constantia" panose="02030602050306030303" pitchFamily="18" charset="0"/>
              </a:rPr>
              <a:t>FUNCIONA </a:t>
            </a:r>
            <a:r>
              <a:rPr lang="es-PE" sz="3600" dirty="0">
                <a:solidFill>
                  <a:srgbClr val="C00000"/>
                </a:solidFill>
                <a:latin typeface="Constantia" panose="02030602050306030303" pitchFamily="18" charset="0"/>
              </a:rPr>
              <a:t>LA WEB</a:t>
            </a:r>
            <a:endParaRPr lang="es-PE" sz="3600" dirty="0">
              <a:solidFill>
                <a:srgbClr val="C00000"/>
              </a:solidFill>
              <a:latin typeface="Constantia" panose="02030602050306030303" pitchFamily="18" charset="0"/>
            </a:endParaRPr>
          </a:p>
        </p:txBody>
      </p:sp>
      <p:sp>
        <p:nvSpPr>
          <p:cNvPr id="3" name="2 Marcador de contenido"/>
          <p:cNvSpPr>
            <a:spLocks noGrp="1"/>
          </p:cNvSpPr>
          <p:nvPr>
            <p:ph idx="1"/>
          </p:nvPr>
        </p:nvSpPr>
        <p:spPr>
          <a:xfrm>
            <a:off x="457200" y="1700808"/>
            <a:ext cx="7467600" cy="4425355"/>
          </a:xfrm>
        </p:spPr>
        <p:txBody>
          <a:bodyPr>
            <a:normAutofit/>
          </a:bodyPr>
          <a:lstStyle/>
          <a:p>
            <a:pPr marL="36576" indent="0">
              <a:buNone/>
            </a:pPr>
            <a:r>
              <a:rPr lang="es-PE" sz="1600" dirty="0" smtClean="0">
                <a:latin typeface="Gisha" panose="020B0502040204020203" pitchFamily="34" charset="-79"/>
                <a:cs typeface="Gisha" panose="020B0502040204020203" pitchFamily="34" charset="-79"/>
              </a:rPr>
              <a:t>Los documentos web son creados en un formato muy conocido como lo es hipertexto, este proporciona una forma fácil de manejar grandes conjuntos de datos. </a:t>
            </a:r>
          </a:p>
          <a:p>
            <a:pPr marL="36576" indent="0">
              <a:buNone/>
            </a:pPr>
            <a:r>
              <a:rPr lang="es-PE" sz="1600" dirty="0" smtClean="0">
                <a:latin typeface="Gisha" panose="020B0502040204020203" pitchFamily="34" charset="-79"/>
                <a:cs typeface="Gisha" panose="020B0502040204020203" pitchFamily="34" charset="-79"/>
              </a:rPr>
              <a:t>La Web utiliza un protocolo especial llamado transferencia de hipertexto o HTTP, este lenguaje permite crear vínculos en el hipertexto ahora llamándose hipervínculos. </a:t>
            </a:r>
            <a:endParaRPr lang="es-PE" sz="1600" dirty="0">
              <a:latin typeface="Gisha" panose="020B0502040204020203" pitchFamily="34" charset="-79"/>
              <a:cs typeface="Gisha" panose="020B0502040204020203" pitchFamily="34" charset="-79"/>
            </a:endParaRPr>
          </a:p>
        </p:txBody>
      </p:sp>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3979" y="3501008"/>
            <a:ext cx="4221088" cy="2638180"/>
          </a:xfrm>
          <a:prstGeom prst="rect">
            <a:avLst/>
          </a:prstGeom>
        </p:spPr>
      </p:pic>
    </p:spTree>
    <p:extLst>
      <p:ext uri="{BB962C8B-B14F-4D97-AF65-F5344CB8AC3E}">
        <p14:creationId xmlns:p14="http://schemas.microsoft.com/office/powerpoint/2010/main" val="847091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188283" y="116632"/>
            <a:ext cx="4690864" cy="778098"/>
          </a:xfrm>
        </p:spPr>
        <p:txBody>
          <a:bodyPr>
            <a:normAutofit/>
          </a:bodyPr>
          <a:lstStyle/>
          <a:p>
            <a:r>
              <a:rPr lang="es-PE" sz="3600" dirty="0">
                <a:solidFill>
                  <a:srgbClr val="C00000"/>
                </a:solidFill>
                <a:latin typeface="Constantia" panose="02030602050306030303" pitchFamily="18" charset="0"/>
              </a:rPr>
              <a:t>Correo Electrónico</a:t>
            </a:r>
            <a:endParaRPr lang="es-PE" sz="3600" dirty="0">
              <a:solidFill>
                <a:srgbClr val="C00000"/>
              </a:solidFill>
              <a:latin typeface="Constantia" panose="02030602050306030303" pitchFamily="18" charset="0"/>
            </a:endParaRPr>
          </a:p>
        </p:txBody>
      </p:sp>
      <p:sp>
        <p:nvSpPr>
          <p:cNvPr id="5" name="4 Marcador de contenido"/>
          <p:cNvSpPr>
            <a:spLocks noGrp="1"/>
          </p:cNvSpPr>
          <p:nvPr>
            <p:ph sz="half" idx="1"/>
          </p:nvPr>
        </p:nvSpPr>
        <p:spPr>
          <a:xfrm>
            <a:off x="251520" y="980728"/>
            <a:ext cx="4032448" cy="5688632"/>
          </a:xfrm>
        </p:spPr>
        <p:txBody>
          <a:bodyPr>
            <a:normAutofit lnSpcReduction="10000"/>
          </a:bodyPr>
          <a:lstStyle/>
          <a:p>
            <a:pPr marL="36576" indent="0" algn="just">
              <a:buNone/>
            </a:pPr>
            <a:r>
              <a:rPr lang="es-PE" sz="1500" dirty="0" smtClean="0">
                <a:latin typeface="Gisha" panose="020B0502040204020203" pitchFamily="34" charset="-79"/>
                <a:cs typeface="Gisha" panose="020B0502040204020203" pitchFamily="34" charset="-79"/>
              </a:rPr>
              <a:t>Siendo el único servicio de Internet que se utiliza con mayor frecuencia que la Web, esto incluso a pesar de no ser un medio de comunicación a tiempo real, el correo electrónico se ha presentado como un medio de comunicación fácil de acceder y usar, además de ser no tan costoso.</a:t>
            </a:r>
          </a:p>
          <a:p>
            <a:pPr marL="36576" indent="0" algn="just">
              <a:buNone/>
            </a:pPr>
            <a:r>
              <a:rPr lang="es-PE" sz="1500" dirty="0" smtClean="0">
                <a:latin typeface="Gisha" panose="020B0502040204020203" pitchFamily="34" charset="-79"/>
                <a:cs typeface="Gisha" panose="020B0502040204020203" pitchFamily="34" charset="-79"/>
              </a:rPr>
              <a:t>Existen 2 formas de utilizar este servicio, siendo la de utilizar un programa de correo electrónico (ej. Microsoft Outlook) la más común. También podrá ingresar al servicio mediante varios servicios del mismo basados en la Web (Hotmail).</a:t>
            </a:r>
          </a:p>
          <a:p>
            <a:pPr marL="36576" indent="0" algn="just">
              <a:buNone/>
            </a:pPr>
            <a:r>
              <a:rPr lang="es-PE" sz="1500" dirty="0" smtClean="0">
                <a:latin typeface="Gisha" panose="020B0502040204020203" pitchFamily="34" charset="-79"/>
                <a:cs typeface="Gisha" panose="020B0502040204020203" pitchFamily="34" charset="-79"/>
              </a:rPr>
              <a:t>Para tener uso de este servicio también necesitará una dirección de correo electrónico, en la cual establecerá un nombre de usuario único para usted, sumado al símbolo @ y el nombre de la computadora host (ej. alexlorepuri@hotmail.com).</a:t>
            </a:r>
          </a:p>
          <a:p>
            <a:pPr marL="36576" indent="0" algn="just">
              <a:buNone/>
            </a:pPr>
            <a:r>
              <a:rPr lang="es-PE" sz="1500" dirty="0">
                <a:latin typeface="Gisha" panose="020B0502040204020203" pitchFamily="34" charset="-79"/>
                <a:cs typeface="Gisha" panose="020B0502040204020203" pitchFamily="34" charset="-79"/>
              </a:rPr>
              <a:t>Ya una vez enviado el mensaje de correo electrónico, este de almacena en un servidor de correo hasta que el destinatario lo recupere. Muchos de estos servidores utilizan el protocolo de oficina postal (POP), y son conocidos como servidores POP.</a:t>
            </a:r>
          </a:p>
          <a:p>
            <a:pPr marL="36576" indent="0" algn="just">
              <a:buNone/>
            </a:pPr>
            <a:endParaRPr lang="es-PE" sz="1500" dirty="0">
              <a:latin typeface="Gisha" panose="020B0502040204020203" pitchFamily="34" charset="-79"/>
              <a:cs typeface="Gisha" panose="020B0502040204020203" pitchFamily="34" charset="-79"/>
            </a:endParaRPr>
          </a:p>
        </p:txBody>
      </p:sp>
      <p:pic>
        <p:nvPicPr>
          <p:cNvPr id="7" name="6 Marcador de contenido"/>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895260" y="1196752"/>
            <a:ext cx="3816424" cy="2331967"/>
          </a:xfrm>
        </p:spPr>
      </p:pic>
      <p:pic>
        <p:nvPicPr>
          <p:cNvPr id="9" name="8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8618" y="2204864"/>
            <a:ext cx="4338228" cy="4321070"/>
          </a:xfrm>
          <a:prstGeom prst="rect">
            <a:avLst/>
          </a:prstGeom>
        </p:spPr>
      </p:pic>
      <p:pic>
        <p:nvPicPr>
          <p:cNvPr id="10" name="9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74198" y="5085184"/>
            <a:ext cx="3707904" cy="919480"/>
          </a:xfrm>
          <a:prstGeom prst="rect">
            <a:avLst/>
          </a:prstGeom>
        </p:spPr>
      </p:pic>
    </p:spTree>
    <p:extLst>
      <p:ext uri="{BB962C8B-B14F-4D97-AF65-F5344CB8AC3E}">
        <p14:creationId xmlns:p14="http://schemas.microsoft.com/office/powerpoint/2010/main" val="14545845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323528" y="260648"/>
            <a:ext cx="4690864" cy="778098"/>
          </a:xfrm>
        </p:spPr>
        <p:txBody>
          <a:bodyPr>
            <a:normAutofit/>
          </a:bodyPr>
          <a:lstStyle/>
          <a:p>
            <a:r>
              <a:rPr lang="es-PE" sz="3600" dirty="0">
                <a:solidFill>
                  <a:srgbClr val="C00000"/>
                </a:solidFill>
                <a:latin typeface="Constantia" panose="02030602050306030303" pitchFamily="18" charset="0"/>
              </a:rPr>
              <a:t>Sistemas </a:t>
            </a:r>
            <a:r>
              <a:rPr lang="es-PE" sz="3600" dirty="0">
                <a:solidFill>
                  <a:srgbClr val="C00000"/>
                </a:solidFill>
                <a:latin typeface="Constantia" panose="02030602050306030303" pitchFamily="18" charset="0"/>
              </a:rPr>
              <a:t>L</a:t>
            </a:r>
            <a:r>
              <a:rPr lang="es-PE" sz="3600" dirty="0">
                <a:solidFill>
                  <a:srgbClr val="C00000"/>
                </a:solidFill>
                <a:latin typeface="Constantia" panose="02030602050306030303" pitchFamily="18" charset="0"/>
              </a:rPr>
              <a:t>istserv</a:t>
            </a:r>
            <a:endParaRPr lang="es-PE" sz="3600" dirty="0">
              <a:solidFill>
                <a:srgbClr val="C00000"/>
              </a:solidFill>
              <a:latin typeface="Constantia" panose="02030602050306030303" pitchFamily="18" charset="0"/>
            </a:endParaRPr>
          </a:p>
        </p:txBody>
      </p:sp>
      <p:sp>
        <p:nvSpPr>
          <p:cNvPr id="5" name="4 Marcador de contenido"/>
          <p:cNvSpPr>
            <a:spLocks noGrp="1"/>
          </p:cNvSpPr>
          <p:nvPr>
            <p:ph sz="half" idx="1"/>
          </p:nvPr>
        </p:nvSpPr>
        <p:spPr>
          <a:xfrm>
            <a:off x="467544" y="1196752"/>
            <a:ext cx="7992888" cy="1440160"/>
          </a:xfrm>
        </p:spPr>
        <p:txBody>
          <a:bodyPr>
            <a:normAutofit/>
          </a:bodyPr>
          <a:lstStyle/>
          <a:p>
            <a:pPr marL="36576" indent="0" algn="just">
              <a:buNone/>
            </a:pPr>
            <a:r>
              <a:rPr lang="es-PE" sz="1600" dirty="0" smtClean="0">
                <a:latin typeface="Gisha" panose="020B0502040204020203" pitchFamily="34" charset="-79"/>
                <a:cs typeface="Gisha" panose="020B0502040204020203" pitchFamily="34" charset="-79"/>
              </a:rPr>
              <a:t>También llamado servidor de listas de correo automatizado, un sistema listserv permite que varias personas intercambien mensajes entre ellas, de forma de que todas las personas del grupo puedan ver lo mensajes y responder a ellos, así generándose un continua discusión cobre un tema específico. </a:t>
            </a:r>
            <a:endParaRPr lang="es-PE" sz="1600" dirty="0">
              <a:latin typeface="Gisha" panose="020B0502040204020203" pitchFamily="34" charset="-79"/>
              <a:cs typeface="Gisha" panose="020B0502040204020203" pitchFamily="34" charset="-79"/>
            </a:endParaRPr>
          </a:p>
        </p:txBody>
      </p:sp>
      <p:pic>
        <p:nvPicPr>
          <p:cNvPr id="3" name="2 Marcador de contenido"/>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691680" y="2420888"/>
            <a:ext cx="6192688" cy="3960440"/>
          </a:xfrm>
        </p:spPr>
      </p:pic>
    </p:spTree>
    <p:extLst>
      <p:ext uri="{BB962C8B-B14F-4D97-AF65-F5344CB8AC3E}">
        <p14:creationId xmlns:p14="http://schemas.microsoft.com/office/powerpoint/2010/main" val="7910536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1691680" y="2708920"/>
            <a:ext cx="5823877" cy="1224136"/>
          </a:xfrm>
        </p:spPr>
        <p:txBody>
          <a:bodyPr>
            <a:noAutofit/>
          </a:bodyPr>
          <a:lstStyle/>
          <a:p>
            <a:pPr algn="ctr"/>
            <a:r>
              <a:rPr lang="es-PE" sz="6000" dirty="0" smtClean="0">
                <a:latin typeface="Constantia" panose="02030602050306030303" pitchFamily="18" charset="0"/>
                <a:cs typeface="Gisha" panose="020B0502040204020203" pitchFamily="34" charset="-79"/>
              </a:rPr>
              <a:t>Otros Servicios de Internet</a:t>
            </a:r>
            <a:endParaRPr lang="es-PE" sz="6000" dirty="0">
              <a:latin typeface="Constantia" panose="02030602050306030303" pitchFamily="18" charset="0"/>
              <a:cs typeface="Gisha" panose="020B0502040204020203" pitchFamily="34" charset="-79"/>
            </a:endParaRPr>
          </a:p>
        </p:txBody>
      </p:sp>
    </p:spTree>
    <p:extLst>
      <p:ext uri="{BB962C8B-B14F-4D97-AF65-F5344CB8AC3E}">
        <p14:creationId xmlns:p14="http://schemas.microsoft.com/office/powerpoint/2010/main" val="1846657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467544" y="188640"/>
            <a:ext cx="4690864" cy="778098"/>
          </a:xfrm>
        </p:spPr>
        <p:txBody>
          <a:bodyPr>
            <a:normAutofit/>
          </a:bodyPr>
          <a:lstStyle/>
          <a:p>
            <a:r>
              <a:rPr lang="es-PE" sz="3600" dirty="0">
                <a:solidFill>
                  <a:srgbClr val="C00000"/>
                </a:solidFill>
                <a:latin typeface="Constantia" panose="02030602050306030303" pitchFamily="18" charset="0"/>
              </a:rPr>
              <a:t>Noticias</a:t>
            </a:r>
            <a:endParaRPr lang="es-PE" sz="3600" dirty="0">
              <a:solidFill>
                <a:srgbClr val="C00000"/>
              </a:solidFill>
              <a:latin typeface="Constantia" panose="02030602050306030303" pitchFamily="18" charset="0"/>
            </a:endParaRPr>
          </a:p>
        </p:txBody>
      </p:sp>
      <p:sp>
        <p:nvSpPr>
          <p:cNvPr id="5" name="4 Marcador de contenido"/>
          <p:cNvSpPr>
            <a:spLocks noGrp="1"/>
          </p:cNvSpPr>
          <p:nvPr>
            <p:ph sz="half" idx="1"/>
          </p:nvPr>
        </p:nvSpPr>
        <p:spPr>
          <a:xfrm>
            <a:off x="539552" y="1052736"/>
            <a:ext cx="8064896" cy="2088232"/>
          </a:xfrm>
        </p:spPr>
        <p:txBody>
          <a:bodyPr>
            <a:normAutofit/>
          </a:bodyPr>
          <a:lstStyle/>
          <a:p>
            <a:pPr marL="36576" indent="0" algn="just">
              <a:buNone/>
            </a:pPr>
            <a:r>
              <a:rPr lang="es-PE" sz="1500" dirty="0" smtClean="0">
                <a:latin typeface="Gisha" panose="020B0502040204020203" pitchFamily="34" charset="-79"/>
                <a:cs typeface="Gisha" panose="020B0502040204020203" pitchFamily="34" charset="-79"/>
              </a:rPr>
              <a:t>Estas consisten en miles de grupos de noticias, cada uno dedicado a un tema en específico. Varios grupos de noticias forman parte de un sistema llamado Usenet, mas otros están dirigidos a un red o institución especifica. </a:t>
            </a:r>
          </a:p>
          <a:p>
            <a:pPr marL="36576" indent="0" algn="just">
              <a:buNone/>
            </a:pPr>
            <a:r>
              <a:rPr lang="es-PE" sz="1500" dirty="0" smtClean="0">
                <a:latin typeface="Gisha" panose="020B0502040204020203" pitchFamily="34" charset="-79"/>
                <a:cs typeface="Gisha" panose="020B0502040204020203" pitchFamily="34" charset="-79"/>
              </a:rPr>
              <a:t>La forma más común de participar en grupos de noticias es mediante un programa lector de noticias (ej. Xnews). Algunos programas de correo electrónico tienen lectores de noticias integrados.</a:t>
            </a:r>
          </a:p>
          <a:p>
            <a:pPr marL="36576" indent="0" algn="just">
              <a:buNone/>
            </a:pPr>
            <a:r>
              <a:rPr lang="es-PE" sz="1500" dirty="0" smtClean="0">
                <a:latin typeface="Gisha" panose="020B0502040204020203" pitchFamily="34" charset="-79"/>
                <a:cs typeface="Gisha" panose="020B0502040204020203" pitchFamily="34" charset="-79"/>
              </a:rPr>
              <a:t>Este programa obtiene artículos de un servidor de noticias utilizando el protocolo de transferencia de noticias de red (NNTP) y algunas veces se les conoce como servidores NNTP.</a:t>
            </a:r>
            <a:endParaRPr lang="es-PE" sz="1500" dirty="0">
              <a:latin typeface="Gisha" panose="020B0502040204020203" pitchFamily="34" charset="-79"/>
              <a:cs typeface="Gisha" panose="020B0502040204020203" pitchFamily="34" charset="-79"/>
            </a:endParaRPr>
          </a:p>
        </p:txBody>
      </p:sp>
      <p:pic>
        <p:nvPicPr>
          <p:cNvPr id="8" name="7 Marcador de contenido"/>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2195736" y="3284984"/>
            <a:ext cx="4896544" cy="3168352"/>
          </a:xfrm>
        </p:spPr>
      </p:pic>
    </p:spTree>
    <p:extLst>
      <p:ext uri="{BB962C8B-B14F-4D97-AF65-F5344CB8AC3E}">
        <p14:creationId xmlns:p14="http://schemas.microsoft.com/office/powerpoint/2010/main" val="37399193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467544" y="188640"/>
            <a:ext cx="4690864" cy="778098"/>
          </a:xfrm>
        </p:spPr>
        <p:txBody>
          <a:bodyPr>
            <a:normAutofit/>
          </a:bodyPr>
          <a:lstStyle/>
          <a:p>
            <a:r>
              <a:rPr lang="es-PE" sz="3600" dirty="0">
                <a:solidFill>
                  <a:srgbClr val="C00000"/>
                </a:solidFill>
                <a:latin typeface="Constantia" panose="02030602050306030303" pitchFamily="18" charset="0"/>
              </a:rPr>
              <a:t>FTP</a:t>
            </a:r>
            <a:endParaRPr lang="es-PE" sz="3600" dirty="0">
              <a:solidFill>
                <a:srgbClr val="C00000"/>
              </a:solidFill>
              <a:latin typeface="Constantia" panose="02030602050306030303" pitchFamily="18" charset="0"/>
            </a:endParaRPr>
          </a:p>
        </p:txBody>
      </p:sp>
      <p:sp>
        <p:nvSpPr>
          <p:cNvPr id="5" name="4 Marcador de contenido"/>
          <p:cNvSpPr>
            <a:spLocks noGrp="1"/>
          </p:cNvSpPr>
          <p:nvPr>
            <p:ph sz="half" idx="1"/>
          </p:nvPr>
        </p:nvSpPr>
        <p:spPr>
          <a:xfrm>
            <a:off x="539552" y="1052736"/>
            <a:ext cx="8064896" cy="2088232"/>
          </a:xfrm>
        </p:spPr>
        <p:txBody>
          <a:bodyPr>
            <a:normAutofit/>
          </a:bodyPr>
          <a:lstStyle/>
          <a:p>
            <a:pPr marL="36576" indent="0" algn="just">
              <a:buNone/>
            </a:pPr>
            <a:r>
              <a:rPr lang="es-PE" sz="1500" dirty="0" smtClean="0">
                <a:latin typeface="Gisha" panose="020B0502040204020203" pitchFamily="34" charset="-79"/>
                <a:cs typeface="Gisha" panose="020B0502040204020203" pitchFamily="34" charset="-79"/>
              </a:rPr>
              <a:t>Protocolo de Transferencia de Archivos (FTP), es la herramienta de Internet que permite copiar archivos de una computadora a otra.</a:t>
            </a:r>
          </a:p>
          <a:p>
            <a:pPr marL="36576" indent="0" algn="just">
              <a:buNone/>
            </a:pPr>
            <a:r>
              <a:rPr lang="es-PE" sz="1500" dirty="0" smtClean="0">
                <a:latin typeface="Gisha" panose="020B0502040204020203" pitchFamily="34" charset="-79"/>
                <a:cs typeface="Gisha" panose="020B0502040204020203" pitchFamily="34" charset="-79"/>
              </a:rPr>
              <a:t>Un sitio FTP es un conjunto de archivos que se encuentra en un servidor FTP. Estos servicios son públicos permite que a cualquiera copiar los archivos utilizando un software de cliente FTP, aunque existen casos en los cuales no es necesario el software. </a:t>
            </a:r>
            <a:endParaRPr lang="es-PE" sz="1500" dirty="0">
              <a:latin typeface="Gisha" panose="020B0502040204020203" pitchFamily="34" charset="-79"/>
              <a:cs typeface="Gisha" panose="020B0502040204020203" pitchFamily="34" charset="-79"/>
            </a:endParaRPr>
          </a:p>
        </p:txBody>
      </p:sp>
      <p:pic>
        <p:nvPicPr>
          <p:cNvPr id="3" name="2 Marcador de contenido"/>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691680" y="2564904"/>
            <a:ext cx="5760640" cy="3816424"/>
          </a:xfrm>
        </p:spPr>
      </p:pic>
    </p:spTree>
    <p:extLst>
      <p:ext uri="{BB962C8B-B14F-4D97-AF65-F5344CB8AC3E}">
        <p14:creationId xmlns:p14="http://schemas.microsoft.com/office/powerpoint/2010/main" val="35646080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4421160" y="260648"/>
            <a:ext cx="4690864" cy="778098"/>
          </a:xfrm>
        </p:spPr>
        <p:txBody>
          <a:bodyPr>
            <a:normAutofit/>
          </a:bodyPr>
          <a:lstStyle/>
          <a:p>
            <a:pPr algn="ctr"/>
            <a:r>
              <a:rPr lang="es-PE" sz="2800" dirty="0">
                <a:solidFill>
                  <a:srgbClr val="C00000"/>
                </a:solidFill>
                <a:latin typeface="Constantia" panose="02030602050306030303" pitchFamily="18" charset="0"/>
              </a:rPr>
              <a:t>Mensajería Instantánea</a:t>
            </a:r>
            <a:endParaRPr lang="es-PE" sz="2800" dirty="0">
              <a:solidFill>
                <a:srgbClr val="C00000"/>
              </a:solidFill>
              <a:latin typeface="Constantia" panose="02030602050306030303" pitchFamily="18" charset="0"/>
            </a:endParaRPr>
          </a:p>
        </p:txBody>
      </p:sp>
      <p:sp>
        <p:nvSpPr>
          <p:cNvPr id="5" name="4 Marcador de contenido"/>
          <p:cNvSpPr>
            <a:spLocks noGrp="1"/>
          </p:cNvSpPr>
          <p:nvPr>
            <p:ph sz="half" idx="1"/>
          </p:nvPr>
        </p:nvSpPr>
        <p:spPr>
          <a:xfrm>
            <a:off x="4709192" y="1268760"/>
            <a:ext cx="4032448" cy="2088232"/>
          </a:xfrm>
        </p:spPr>
        <p:txBody>
          <a:bodyPr>
            <a:normAutofit/>
          </a:bodyPr>
          <a:lstStyle/>
          <a:p>
            <a:pPr marL="36576" indent="0" algn="just">
              <a:buNone/>
            </a:pPr>
            <a:r>
              <a:rPr lang="es-PE" sz="1500" dirty="0" smtClean="0">
                <a:latin typeface="Gisha" panose="020B0502040204020203" pitchFamily="34" charset="-79"/>
                <a:cs typeface="Gisha" panose="020B0502040204020203" pitchFamily="34" charset="-79"/>
              </a:rPr>
              <a:t>La mensajería instantánea (IM) es muy parecida al chat, pero privada. Se pueden creer salas de chat en donde pueden participar tus contactos de tu lista de amigos. Algunos softwares de IM son: Windows Messenger, AOL Instant Messenger. </a:t>
            </a:r>
          </a:p>
        </p:txBody>
      </p:sp>
      <p:pic>
        <p:nvPicPr>
          <p:cNvPr id="6" name="5 Marcador de contenido"/>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141240" y="2996952"/>
            <a:ext cx="3333750" cy="3324225"/>
          </a:xfrm>
        </p:spPr>
      </p:pic>
      <p:pic>
        <p:nvPicPr>
          <p:cNvPr id="7" name="6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9552" y="3068960"/>
            <a:ext cx="3683144" cy="2947986"/>
          </a:xfrm>
          <a:prstGeom prst="rect">
            <a:avLst/>
          </a:prstGeom>
        </p:spPr>
      </p:pic>
      <p:sp>
        <p:nvSpPr>
          <p:cNvPr id="9" name="4 Marcador de contenido"/>
          <p:cNvSpPr txBox="1">
            <a:spLocks/>
          </p:cNvSpPr>
          <p:nvPr/>
        </p:nvSpPr>
        <p:spPr>
          <a:xfrm>
            <a:off x="364900" y="1268760"/>
            <a:ext cx="4032448" cy="2088232"/>
          </a:xfrm>
          <a:prstGeom prst="rect">
            <a:avLst/>
          </a:prstGeom>
        </p:spPr>
        <p:txBody>
          <a:bodyPr vert="horz">
            <a:normAutofit/>
          </a:bodyPr>
          <a:lstStyle>
            <a:lvl1pPr marL="420624" indent="-384048" algn="l" rtl="0" eaLnBrk="1" latinLnBrk="0" hangingPunct="1">
              <a:spcBef>
                <a:spcPct val="20000"/>
              </a:spcBef>
              <a:buClr>
                <a:schemeClr val="accent1"/>
              </a:buClr>
              <a:buSzPct val="80000"/>
              <a:buFont typeface="Wingdings 2"/>
              <a:buChar char=""/>
              <a:defRPr kumimoji="0" sz="26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2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0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18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18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36576" indent="0" algn="just">
              <a:buFont typeface="Wingdings 2"/>
              <a:buNone/>
            </a:pPr>
            <a:r>
              <a:rPr lang="es-PE" sz="1500" dirty="0" smtClean="0">
                <a:latin typeface="Gisha" panose="020B0502040204020203" pitchFamily="34" charset="-79"/>
                <a:cs typeface="Gisha" panose="020B0502040204020203" pitchFamily="34" charset="-79"/>
              </a:rPr>
              <a:t>La charla interactiva en Internet (IRC), permite a los usuarios comunicarse en tiempo real dentro de grupos llamados canales. Estas sesiones se podrían llevar a cabo en la misma Web como en un software especializado. </a:t>
            </a:r>
          </a:p>
        </p:txBody>
      </p:sp>
      <p:sp>
        <p:nvSpPr>
          <p:cNvPr id="10" name="3 Título"/>
          <p:cNvSpPr txBox="1">
            <a:spLocks/>
          </p:cNvSpPr>
          <p:nvPr/>
        </p:nvSpPr>
        <p:spPr>
          <a:xfrm>
            <a:off x="107504" y="260648"/>
            <a:ext cx="4690864" cy="778098"/>
          </a:xfrm>
          <a:prstGeom prst="rect">
            <a:avLst/>
          </a:prstGeom>
        </p:spPr>
        <p:txBody>
          <a:bodyPr vert="horz" lIns="45720" rIns="45720" anchor="ctr">
            <a:noAutofit/>
          </a:bodyPr>
          <a:lstStyle>
            <a:lvl1pPr algn="l" rtl="0" eaLnBrk="1" latinLnBrk="0" hangingPunct="1">
              <a:spcBef>
                <a:spcPct val="0"/>
              </a:spcBef>
              <a:buNone/>
              <a:defRPr kumimoji="0" sz="4600" kern="1200">
                <a:solidFill>
                  <a:schemeClr val="tx1"/>
                </a:solidFill>
                <a:latin typeface="+mj-lt"/>
                <a:ea typeface="+mj-ea"/>
                <a:cs typeface="+mj-cs"/>
              </a:defRPr>
            </a:lvl1pPr>
          </a:lstStyle>
          <a:p>
            <a:pPr algn="ctr"/>
            <a:r>
              <a:rPr lang="es-PE" sz="2400" dirty="0">
                <a:solidFill>
                  <a:srgbClr val="C00000"/>
                </a:solidFill>
                <a:latin typeface="Constantia" panose="02030602050306030303" pitchFamily="18" charset="0"/>
              </a:rPr>
              <a:t>Charla Interactiva en Internet</a:t>
            </a:r>
            <a:endParaRPr lang="es-PE" sz="2400" dirty="0">
              <a:solidFill>
                <a:srgbClr val="C00000"/>
              </a:solidFill>
              <a:latin typeface="Constantia" panose="02030602050306030303" pitchFamily="18" charset="0"/>
            </a:endParaRPr>
          </a:p>
        </p:txBody>
      </p:sp>
    </p:spTree>
    <p:extLst>
      <p:ext uri="{BB962C8B-B14F-4D97-AF65-F5344CB8AC3E}">
        <p14:creationId xmlns:p14="http://schemas.microsoft.com/office/powerpoint/2010/main" val="1880640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4421160" y="260648"/>
            <a:ext cx="4690864" cy="778098"/>
          </a:xfrm>
        </p:spPr>
        <p:txBody>
          <a:bodyPr>
            <a:normAutofit/>
          </a:bodyPr>
          <a:lstStyle/>
          <a:p>
            <a:pPr algn="ctr"/>
            <a:r>
              <a:rPr lang="es-PE" sz="2800" dirty="0">
                <a:solidFill>
                  <a:srgbClr val="C00000"/>
                </a:solidFill>
                <a:latin typeface="Constantia" panose="02030602050306030303" pitchFamily="18" charset="0"/>
              </a:rPr>
              <a:t>Servicios punto a punto</a:t>
            </a:r>
            <a:endParaRPr lang="es-PE" sz="2800" dirty="0">
              <a:solidFill>
                <a:srgbClr val="C00000"/>
              </a:solidFill>
              <a:latin typeface="Constantia" panose="02030602050306030303" pitchFamily="18" charset="0"/>
            </a:endParaRPr>
          </a:p>
        </p:txBody>
      </p:sp>
      <p:sp>
        <p:nvSpPr>
          <p:cNvPr id="5" name="4 Marcador de contenido"/>
          <p:cNvSpPr>
            <a:spLocks noGrp="1"/>
          </p:cNvSpPr>
          <p:nvPr>
            <p:ph sz="half" idx="1"/>
          </p:nvPr>
        </p:nvSpPr>
        <p:spPr>
          <a:xfrm>
            <a:off x="4709192" y="1268760"/>
            <a:ext cx="4032448" cy="2088232"/>
          </a:xfrm>
        </p:spPr>
        <p:txBody>
          <a:bodyPr>
            <a:normAutofit/>
          </a:bodyPr>
          <a:lstStyle/>
          <a:p>
            <a:pPr marL="36576" indent="0" algn="just">
              <a:buNone/>
            </a:pPr>
            <a:r>
              <a:rPr lang="es-PE" sz="1500" dirty="0" smtClean="0">
                <a:latin typeface="Gisha" panose="020B0502040204020203" pitchFamily="34" charset="-79"/>
                <a:cs typeface="Gisha" panose="020B0502040204020203" pitchFamily="34" charset="-79"/>
              </a:rPr>
              <a:t>Los servicios punto a punto (P2P) permiten que los usuarios ingresen a las computadoras de otras a través de internet y sin necesidad de un servidor central. Este usa un software especializado.</a:t>
            </a:r>
          </a:p>
        </p:txBody>
      </p:sp>
      <p:sp>
        <p:nvSpPr>
          <p:cNvPr id="9" name="4 Marcador de contenido"/>
          <p:cNvSpPr txBox="1">
            <a:spLocks/>
          </p:cNvSpPr>
          <p:nvPr/>
        </p:nvSpPr>
        <p:spPr>
          <a:xfrm>
            <a:off x="364900" y="1268760"/>
            <a:ext cx="4135092" cy="2088232"/>
          </a:xfrm>
          <a:prstGeom prst="rect">
            <a:avLst/>
          </a:prstGeom>
        </p:spPr>
        <p:txBody>
          <a:bodyPr vert="horz">
            <a:normAutofit/>
          </a:bodyPr>
          <a:lstStyle>
            <a:lvl1pPr marL="420624" indent="-384048" algn="l" rtl="0" eaLnBrk="1" latinLnBrk="0" hangingPunct="1">
              <a:spcBef>
                <a:spcPct val="20000"/>
              </a:spcBef>
              <a:buClr>
                <a:schemeClr val="accent1"/>
              </a:buClr>
              <a:buSzPct val="80000"/>
              <a:buFont typeface="Wingdings 2"/>
              <a:buChar char=""/>
              <a:defRPr kumimoji="0" sz="26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2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0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18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18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36576" indent="0" algn="just">
              <a:buFont typeface="Wingdings 2"/>
              <a:buNone/>
            </a:pPr>
            <a:r>
              <a:rPr lang="es-PE" sz="1500" dirty="0" smtClean="0">
                <a:latin typeface="Gisha" panose="020B0502040204020203" pitchFamily="34" charset="-79"/>
                <a:cs typeface="Gisha" panose="020B0502040204020203" pitchFamily="34" charset="-79"/>
              </a:rPr>
              <a:t>Internet proporciona varios tipos de servicios, las cuales solo están disponibles para un grupo de suscriptores a estos. Estos son monitoreados por un operador de sistema para que se vean cumplir las reglas (el. pagar la mensualidad de la suscripción).</a:t>
            </a:r>
          </a:p>
        </p:txBody>
      </p:sp>
      <p:sp>
        <p:nvSpPr>
          <p:cNvPr id="10" name="3 Título"/>
          <p:cNvSpPr txBox="1">
            <a:spLocks/>
          </p:cNvSpPr>
          <p:nvPr/>
        </p:nvSpPr>
        <p:spPr>
          <a:xfrm>
            <a:off x="107504" y="260648"/>
            <a:ext cx="4690864" cy="778098"/>
          </a:xfrm>
          <a:prstGeom prst="rect">
            <a:avLst/>
          </a:prstGeom>
        </p:spPr>
        <p:txBody>
          <a:bodyPr vert="horz" lIns="45720" rIns="45720" anchor="ctr">
            <a:normAutofit/>
          </a:bodyPr>
          <a:lstStyle>
            <a:lvl1pPr algn="l" rtl="0" eaLnBrk="1" latinLnBrk="0" hangingPunct="1">
              <a:spcBef>
                <a:spcPct val="0"/>
              </a:spcBef>
              <a:buNone/>
              <a:defRPr kumimoji="0" sz="4600" kern="1200">
                <a:solidFill>
                  <a:schemeClr val="tx1"/>
                </a:solidFill>
                <a:latin typeface="+mj-lt"/>
                <a:ea typeface="+mj-ea"/>
                <a:cs typeface="+mj-cs"/>
              </a:defRPr>
            </a:lvl1pPr>
          </a:lstStyle>
          <a:p>
            <a:pPr algn="ctr"/>
            <a:r>
              <a:rPr lang="es-PE" sz="3200" dirty="0">
                <a:solidFill>
                  <a:srgbClr val="C00000"/>
                </a:solidFill>
                <a:latin typeface="Constantia" panose="02030602050306030303" pitchFamily="18" charset="0"/>
              </a:rPr>
              <a:t>Servicios en línea</a:t>
            </a:r>
            <a:endParaRPr lang="es-PE" sz="3200" dirty="0">
              <a:solidFill>
                <a:srgbClr val="C00000"/>
              </a:solidFill>
              <a:latin typeface="Constantia" panose="02030602050306030303" pitchFamily="18" charset="0"/>
            </a:endParaRPr>
          </a:p>
        </p:txBody>
      </p:sp>
      <p:pic>
        <p:nvPicPr>
          <p:cNvPr id="2" name="1 Imagen"/>
          <p:cNvPicPr>
            <a:picLocks noChangeAspect="1"/>
          </p:cNvPicPr>
          <p:nvPr/>
        </p:nvPicPr>
        <p:blipFill rotWithShape="1">
          <a:blip r:embed="rId3">
            <a:extLst>
              <a:ext uri="{28A0092B-C50C-407E-A947-70E740481C1C}">
                <a14:useLocalDpi xmlns:a14="http://schemas.microsoft.com/office/drawing/2010/main" val="0"/>
              </a:ext>
            </a:extLst>
          </a:blip>
          <a:srcRect b="27678"/>
          <a:stretch/>
        </p:blipFill>
        <p:spPr>
          <a:xfrm>
            <a:off x="580120" y="3352472"/>
            <a:ext cx="3704652" cy="2016224"/>
          </a:xfrm>
          <a:prstGeom prst="rect">
            <a:avLst/>
          </a:prstGeom>
        </p:spPr>
      </p:pic>
      <p:pic>
        <p:nvPicPr>
          <p:cNvPr id="8" name="7 Marcador de contenido"/>
          <p:cNvPicPr>
            <a:picLocks noGrp="1" noChangeAspect="1"/>
          </p:cNvPicPr>
          <p:nvPr>
            <p:ph sz="half" idx="2"/>
          </p:nvPr>
        </p:nvPicPr>
        <p:blipFill rotWithShape="1">
          <a:blip r:embed="rId4">
            <a:extLst>
              <a:ext uri="{28A0092B-C50C-407E-A947-70E740481C1C}">
                <a14:useLocalDpi xmlns:a14="http://schemas.microsoft.com/office/drawing/2010/main" val="0"/>
              </a:ext>
            </a:extLst>
          </a:blip>
          <a:srcRect l="9560" r="8352"/>
          <a:stretch/>
        </p:blipFill>
        <p:spPr>
          <a:xfrm>
            <a:off x="4932040" y="3345845"/>
            <a:ext cx="3704652" cy="2027371"/>
          </a:xfrm>
        </p:spPr>
      </p:pic>
    </p:spTree>
    <p:extLst>
      <p:ext uri="{BB962C8B-B14F-4D97-AF65-F5344CB8AC3E}">
        <p14:creationId xmlns:p14="http://schemas.microsoft.com/office/powerpoint/2010/main" val="939328081"/>
      </p:ext>
    </p:extLst>
  </p:cSld>
  <p:clrMapOvr>
    <a:masterClrMapping/>
  </p:clrMapOvr>
  <p:timing>
    <p:tnLst>
      <p:par>
        <p:cTn id="1" dur="indefinite" restart="never" nodeType="tmRoot"/>
      </p:par>
    </p:tnLst>
  </p:timing>
</p:sld>
</file>

<file path=ppt/theme/theme1.xml><?xml version="1.0" encoding="utf-8"?>
<a:theme xmlns:a="http://schemas.openxmlformats.org/drawingml/2006/main" name="Técnico">
  <a:themeElements>
    <a:clrScheme name="Técnico">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écnico">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écnico">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251</TotalTime>
  <Words>1226</Words>
  <Application>Microsoft Office PowerPoint</Application>
  <PresentationFormat>Presentación en pantalla (4:3)</PresentationFormat>
  <Paragraphs>99</Paragraphs>
  <Slides>24</Slides>
  <Notes>2</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Técnico</vt:lpstr>
      <vt:lpstr>Introducción a la computación</vt:lpstr>
      <vt:lpstr>LAS COMPUTADORAS EN NUESTRO MUNDO</vt:lpstr>
      <vt:lpstr>DEFINICION DE UNA COMPUTADORA</vt:lpstr>
      <vt:lpstr>Presentación de PowerPoint</vt:lpstr>
      <vt:lpstr>Presentación de PowerPoint</vt:lpstr>
      <vt:lpstr>CLASIFICACION DE LAS COMPUTADORAS SEGÚN SU USO</vt:lpstr>
      <vt:lpstr>COMPUTADORAS DE USO INDIVIDUAL</vt:lpstr>
      <vt:lpstr>Presentación de PowerPoint</vt:lpstr>
      <vt:lpstr>Presentación de PowerPoint</vt:lpstr>
      <vt:lpstr>Presentación de PowerPoint</vt:lpstr>
      <vt:lpstr>COMPUTADORAS PARA ORGANIZACIONES</vt:lpstr>
      <vt:lpstr>Presentación de PowerPoint</vt:lpstr>
      <vt:lpstr>Presentación de PowerPoint</vt:lpstr>
      <vt:lpstr>Ciclo de procesamiento de la información</vt:lpstr>
      <vt:lpstr>¿QUÉ ES INTERNET?</vt:lpstr>
      <vt:lpstr>HISTORIA DEL INTERNET</vt:lpstr>
      <vt:lpstr>FORMA EN QUE FUNCIONA LA WEB</vt:lpstr>
      <vt:lpstr>Correo Electrónico</vt:lpstr>
      <vt:lpstr>Sistemas Listserv</vt:lpstr>
      <vt:lpstr>Otros Servicios de Internet</vt:lpstr>
      <vt:lpstr>Noticias</vt:lpstr>
      <vt:lpstr>FTP</vt:lpstr>
      <vt:lpstr>Mensajería Instantánea</vt:lpstr>
      <vt:lpstr>Servicios punto a punto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Alexander</dc:creator>
  <cp:lastModifiedBy>Alexander</cp:lastModifiedBy>
  <cp:revision>22</cp:revision>
  <dcterms:created xsi:type="dcterms:W3CDTF">2015-04-01T01:40:11Z</dcterms:created>
  <dcterms:modified xsi:type="dcterms:W3CDTF">2015-04-08T15:22:46Z</dcterms:modified>
</cp:coreProperties>
</file>